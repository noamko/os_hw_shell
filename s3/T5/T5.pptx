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387" r:id="rId2"/>
    <p:sldId id="277" r:id="rId3"/>
    <p:sldId id="312" r:id="rId4"/>
    <p:sldId id="313" r:id="rId5"/>
    <p:sldId id="331" r:id="rId6"/>
    <p:sldId id="332" r:id="rId7"/>
    <p:sldId id="333" r:id="rId8"/>
    <p:sldId id="334" r:id="rId9"/>
    <p:sldId id="335" r:id="rId10"/>
    <p:sldId id="303" r:id="rId11"/>
    <p:sldId id="304" r:id="rId12"/>
    <p:sldId id="305" r:id="rId13"/>
    <p:sldId id="306" r:id="rId14"/>
    <p:sldId id="314" r:id="rId15"/>
    <p:sldId id="315" r:id="rId16"/>
    <p:sldId id="388" r:id="rId17"/>
    <p:sldId id="316" r:id="rId18"/>
    <p:sldId id="339" r:id="rId19"/>
    <p:sldId id="340" r:id="rId20"/>
    <p:sldId id="317" r:id="rId21"/>
    <p:sldId id="336" r:id="rId22"/>
    <p:sldId id="337" r:id="rId23"/>
    <p:sldId id="338" r:id="rId24"/>
    <p:sldId id="319" r:id="rId25"/>
    <p:sldId id="322" r:id="rId26"/>
    <p:sldId id="320" r:id="rId27"/>
    <p:sldId id="342" r:id="rId28"/>
    <p:sldId id="343" r:id="rId29"/>
    <p:sldId id="321" r:id="rId30"/>
    <p:sldId id="344" r:id="rId31"/>
    <p:sldId id="323" r:id="rId32"/>
    <p:sldId id="326" r:id="rId33"/>
    <p:sldId id="327" r:id="rId34"/>
    <p:sldId id="325" r:id="rId35"/>
  </p:sldIdLst>
  <p:sldSz cx="9144000" cy="6858000" type="screen4x3"/>
  <p:notesSz cx="9144000" cy="685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D8A2B"/>
    <a:srgbClr val="FF6600"/>
    <a:srgbClr val="D7E6EE"/>
    <a:srgbClr val="6F9AEF"/>
    <a:srgbClr val="6DCEF1"/>
    <a:srgbClr val="99CC00"/>
    <a:srgbClr val="93DADF"/>
    <a:srgbClr val="3BCBDF"/>
    <a:srgbClr val="497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סגנון ביניים 4 - הדגשה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0" autoAdjust="0"/>
    <p:restoredTop sz="73816" autoAdjust="0"/>
  </p:normalViewPr>
  <p:slideViewPr>
    <p:cSldViewPr>
      <p:cViewPr varScale="1">
        <p:scale>
          <a:sx n="60" d="100"/>
          <a:sy n="60" d="100"/>
        </p:scale>
        <p:origin x="203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2508" y="-78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FA017B-40FC-43AD-AACD-9293C21DCD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220C39-E4AE-4522-B01A-D6185232EE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0DD54C-CCB1-432D-A57A-B355BA8872DE}" type="datetimeFigureOut">
              <a:rPr lang="en-US" smtClean="0"/>
              <a:t>18-Apr-21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46ED97-BB80-4379-A2DB-62CBE3C0C60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C57D8E-E0D1-470E-A2BC-003DE66E65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6A6D4E-26E0-4AC6-97C0-50C87CADE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23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F4F1C-D44F-4160-8592-AD44EA90F77C}" type="datetimeFigureOut">
              <a:rPr lang="en-US" smtClean="0"/>
              <a:pPr/>
              <a:t>18-Apr-21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E7735-BC16-49D5-BB76-C3E92BA0B3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17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5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023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042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9935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498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9390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1280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/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5588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7842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612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566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320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1000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5760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135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r" rtl="1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0018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864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036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3665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5328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5645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9149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208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3355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0926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23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23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1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459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06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9228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E7735-BC16-49D5-BB76-C3E92BA0B3B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694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9" name="Group 17"/>
          <p:cNvGrpSpPr>
            <a:grpSpLocks/>
          </p:cNvGrpSpPr>
          <p:nvPr/>
        </p:nvGrpSpPr>
        <p:grpSpPr bwMode="auto">
          <a:xfrm>
            <a:off x="-9525" y="2708275"/>
            <a:ext cx="9183688" cy="1501775"/>
            <a:chOff x="-23" y="1319"/>
            <a:chExt cx="5799" cy="946"/>
          </a:xfrm>
        </p:grpSpPr>
        <p:sp>
          <p:nvSpPr>
            <p:cNvPr id="3090" name="Freeform 18"/>
            <p:cNvSpPr>
              <a:spLocks/>
            </p:cNvSpPr>
            <p:nvPr/>
          </p:nvSpPr>
          <p:spPr bwMode="gray">
            <a:xfrm>
              <a:off x="-20" y="1319"/>
              <a:ext cx="5779" cy="946"/>
            </a:xfrm>
            <a:custGeom>
              <a:avLst/>
              <a:gdLst/>
              <a:ahLst/>
              <a:cxnLst>
                <a:cxn ang="0">
                  <a:pos x="6" y="454"/>
                </a:cxn>
                <a:cxn ang="0">
                  <a:pos x="355" y="454"/>
                </a:cxn>
                <a:cxn ang="0">
                  <a:pos x="757" y="1"/>
                </a:cxn>
                <a:cxn ang="0">
                  <a:pos x="2511" y="0"/>
                </a:cxn>
                <a:cxn ang="0">
                  <a:pos x="2646" y="144"/>
                </a:cxn>
                <a:cxn ang="0">
                  <a:pos x="5779" y="137"/>
                </a:cxn>
                <a:cxn ang="0">
                  <a:pos x="5779" y="772"/>
                </a:cxn>
                <a:cxn ang="0">
                  <a:pos x="2899" y="765"/>
                </a:cxn>
                <a:cxn ang="0">
                  <a:pos x="2757" y="946"/>
                </a:cxn>
                <a:cxn ang="0">
                  <a:pos x="1883" y="946"/>
                </a:cxn>
                <a:cxn ang="0">
                  <a:pos x="1663" y="687"/>
                </a:cxn>
                <a:cxn ang="0">
                  <a:pos x="0" y="687"/>
                </a:cxn>
                <a:cxn ang="0">
                  <a:pos x="35" y="480"/>
                </a:cxn>
              </a:cxnLst>
              <a:rect l="0" t="0" r="r" b="b"/>
              <a:pathLst>
                <a:path w="5779" h="946">
                  <a:moveTo>
                    <a:pt x="6" y="454"/>
                  </a:moveTo>
                  <a:lnTo>
                    <a:pt x="355" y="454"/>
                  </a:lnTo>
                  <a:lnTo>
                    <a:pt x="757" y="1"/>
                  </a:lnTo>
                  <a:lnTo>
                    <a:pt x="2511" y="0"/>
                  </a:lnTo>
                  <a:lnTo>
                    <a:pt x="2646" y="144"/>
                  </a:lnTo>
                  <a:lnTo>
                    <a:pt x="5779" y="137"/>
                  </a:lnTo>
                  <a:lnTo>
                    <a:pt x="5779" y="772"/>
                  </a:lnTo>
                  <a:lnTo>
                    <a:pt x="2899" y="765"/>
                  </a:lnTo>
                  <a:lnTo>
                    <a:pt x="2757" y="946"/>
                  </a:lnTo>
                  <a:lnTo>
                    <a:pt x="1883" y="946"/>
                  </a:lnTo>
                  <a:lnTo>
                    <a:pt x="1663" y="687"/>
                  </a:lnTo>
                  <a:lnTo>
                    <a:pt x="0" y="687"/>
                  </a:lnTo>
                  <a:lnTo>
                    <a:pt x="35" y="48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>
              <a:outerShdw dist="77251" dir="4832261" algn="ctr" rotWithShape="0">
                <a:srgbClr val="000066">
                  <a:alpha val="19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91" name="Freeform 19" descr="01_img(Global Digtal Desigm(imageState)"/>
            <p:cNvSpPr>
              <a:spLocks/>
            </p:cNvSpPr>
            <p:nvPr/>
          </p:nvSpPr>
          <p:spPr bwMode="gray">
            <a:xfrm>
              <a:off x="-23" y="1344"/>
              <a:ext cx="5799" cy="895"/>
            </a:xfrm>
            <a:custGeom>
              <a:avLst/>
              <a:gdLst/>
              <a:ahLst/>
              <a:cxnLst>
                <a:cxn ang="0">
                  <a:pos x="0" y="455"/>
                </a:cxn>
                <a:cxn ang="0">
                  <a:pos x="369" y="454"/>
                </a:cxn>
                <a:cxn ang="0">
                  <a:pos x="776" y="0"/>
                </a:cxn>
                <a:cxn ang="0">
                  <a:pos x="2496" y="0"/>
                </a:cxn>
                <a:cxn ang="0">
                  <a:pos x="2632" y="136"/>
                </a:cxn>
                <a:cxn ang="0">
                  <a:pos x="5799" y="136"/>
                </a:cxn>
                <a:cxn ang="0">
                  <a:pos x="5788" y="727"/>
                </a:cxn>
                <a:cxn ang="0">
                  <a:pos x="2883" y="708"/>
                </a:cxn>
                <a:cxn ang="0">
                  <a:pos x="2747" y="895"/>
                </a:cxn>
                <a:cxn ang="0">
                  <a:pos x="1899" y="895"/>
                </a:cxn>
                <a:cxn ang="0">
                  <a:pos x="1681" y="635"/>
                </a:cxn>
                <a:cxn ang="0">
                  <a:pos x="7" y="635"/>
                </a:cxn>
                <a:cxn ang="0">
                  <a:pos x="7" y="454"/>
                </a:cxn>
              </a:cxnLst>
              <a:rect l="0" t="0" r="r" b="b"/>
              <a:pathLst>
                <a:path w="5799" h="895">
                  <a:moveTo>
                    <a:pt x="0" y="455"/>
                  </a:moveTo>
                  <a:lnTo>
                    <a:pt x="369" y="454"/>
                  </a:lnTo>
                  <a:lnTo>
                    <a:pt x="776" y="0"/>
                  </a:lnTo>
                  <a:lnTo>
                    <a:pt x="2496" y="0"/>
                  </a:lnTo>
                  <a:lnTo>
                    <a:pt x="2632" y="136"/>
                  </a:lnTo>
                  <a:lnTo>
                    <a:pt x="5799" y="136"/>
                  </a:lnTo>
                  <a:lnTo>
                    <a:pt x="5788" y="727"/>
                  </a:lnTo>
                  <a:lnTo>
                    <a:pt x="2883" y="708"/>
                  </a:lnTo>
                  <a:lnTo>
                    <a:pt x="2747" y="895"/>
                  </a:lnTo>
                  <a:lnTo>
                    <a:pt x="1899" y="895"/>
                  </a:lnTo>
                  <a:lnTo>
                    <a:pt x="1681" y="635"/>
                  </a:lnTo>
                  <a:lnTo>
                    <a:pt x="7" y="635"/>
                  </a:lnTo>
                  <a:lnTo>
                    <a:pt x="7" y="454"/>
                  </a:lnTo>
                </a:path>
              </a:pathLst>
            </a:custGeom>
            <a:blipFill dpi="0" rotWithShape="1">
              <a:blip r:embed="rId2" cstate="print"/>
              <a:srcRect/>
              <a:stretch>
                <a:fillRect/>
              </a:stretch>
            </a:blip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990600" y="4953000"/>
            <a:ext cx="7315200" cy="381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800">
                <a:latin typeface="Verdana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092" name="Rectangle 20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611188" y="1700213"/>
            <a:ext cx="8137525" cy="792162"/>
          </a:xfrm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Click to edit Master 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2694EF-A7AE-4A38-8139-68EDB3735F3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10400" y="288925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635A1B-4FD8-4789-B1CE-F4B2DC5F5CE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43025"/>
            <a:ext cx="4038600" cy="5137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43025"/>
            <a:ext cx="4038600" cy="5137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010400" y="288925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F4A850-2251-4E65-BFD5-AB690027BCC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010400" y="288925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19925E-24DF-4F08-96BC-3550DAB4D0B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010400" y="288925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B1D6C8-D91E-475D-B0D7-AD6319C502F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010400" y="288925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DD813B-6A9E-4957-A32C-75EA93D04FB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010400" y="288925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53807A-4B46-48B4-A8F9-9892D25D912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010400" y="288925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855BC1-C091-4AC2-A669-70561B51A42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10400" y="288925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0C20A3-5914-443F-B0B8-8C66E6F04EE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79438"/>
            <a:ext cx="2057400" cy="59007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79438"/>
            <a:ext cx="6019800" cy="59007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10400" y="288925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D336D0-4CEB-4FDD-9F3D-AB431001488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79438"/>
            <a:ext cx="7848600" cy="563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343025"/>
            <a:ext cx="8229600" cy="513715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10400" y="288925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91200" y="6537325"/>
            <a:ext cx="2895600" cy="32067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71888" y="653732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2486B43F-D29D-4CB7-BA81-5841BD9C2A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45226" y="3683633"/>
            <a:ext cx="6736500" cy="15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938247" y="3377551"/>
            <a:ext cx="721800" cy="102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2" name="Google Shape;12;p2"/>
          <p:cNvSpPr/>
          <p:nvPr/>
        </p:nvSpPr>
        <p:spPr>
          <a:xfrm>
            <a:off x="6659861" y="3377551"/>
            <a:ext cx="721800" cy="10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3" name="Google Shape;13;p2"/>
          <p:cNvSpPr/>
          <p:nvPr/>
        </p:nvSpPr>
        <p:spPr>
          <a:xfrm>
            <a:off x="-1" y="3377551"/>
            <a:ext cx="721800" cy="10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4" name="Google Shape;14;p2"/>
          <p:cNvSpPr/>
          <p:nvPr/>
        </p:nvSpPr>
        <p:spPr>
          <a:xfrm>
            <a:off x="721426" y="3377551"/>
            <a:ext cx="5216700" cy="102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629978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Freeform 16"/>
          <p:cNvSpPr>
            <a:spLocks/>
          </p:cNvSpPr>
          <p:nvPr/>
        </p:nvSpPr>
        <p:spPr bwMode="gray">
          <a:xfrm>
            <a:off x="0" y="360363"/>
            <a:ext cx="9148763" cy="900112"/>
          </a:xfrm>
          <a:custGeom>
            <a:avLst/>
            <a:gdLst/>
            <a:ahLst/>
            <a:cxnLst>
              <a:cxn ang="0">
                <a:pos x="0" y="368"/>
              </a:cxn>
              <a:cxn ang="0">
                <a:pos x="440" y="368"/>
              </a:cxn>
              <a:cxn ang="0">
                <a:pos x="777" y="0"/>
              </a:cxn>
              <a:cxn ang="0">
                <a:pos x="2162" y="0"/>
              </a:cxn>
              <a:cxn ang="0">
                <a:pos x="2265" y="116"/>
              </a:cxn>
              <a:cxn ang="0">
                <a:pos x="5756" y="112"/>
              </a:cxn>
              <a:cxn ang="0">
                <a:pos x="5763" y="567"/>
              </a:cxn>
              <a:cxn ang="0">
                <a:pos x="6" y="556"/>
              </a:cxn>
            </a:cxnLst>
            <a:rect l="0" t="0" r="r" b="b"/>
            <a:pathLst>
              <a:path w="5763" h="567">
                <a:moveTo>
                  <a:pt x="0" y="368"/>
                </a:moveTo>
                <a:lnTo>
                  <a:pt x="440" y="368"/>
                </a:lnTo>
                <a:lnTo>
                  <a:pt x="777" y="0"/>
                </a:lnTo>
                <a:lnTo>
                  <a:pt x="2162" y="0"/>
                </a:lnTo>
                <a:lnTo>
                  <a:pt x="2265" y="116"/>
                </a:lnTo>
                <a:lnTo>
                  <a:pt x="5756" y="112"/>
                </a:lnTo>
                <a:lnTo>
                  <a:pt x="5763" y="567"/>
                </a:lnTo>
                <a:lnTo>
                  <a:pt x="6" y="556"/>
                </a:lnTo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39" name="Freeform 15" descr="01b_img(Global Digtal Desigm(imageState)"/>
          <p:cNvSpPr>
            <a:spLocks/>
          </p:cNvSpPr>
          <p:nvPr/>
        </p:nvSpPr>
        <p:spPr bwMode="gray">
          <a:xfrm>
            <a:off x="-9525" y="336550"/>
            <a:ext cx="9182100" cy="838200"/>
          </a:xfrm>
          <a:custGeom>
            <a:avLst/>
            <a:gdLst/>
            <a:ahLst/>
            <a:cxnLst>
              <a:cxn ang="0">
                <a:pos x="449" y="370"/>
              </a:cxn>
              <a:cxn ang="0">
                <a:pos x="768" y="1"/>
              </a:cxn>
              <a:cxn ang="0">
                <a:pos x="2158" y="0"/>
              </a:cxn>
              <a:cxn ang="0">
                <a:pos x="2258" y="115"/>
              </a:cxn>
              <a:cxn ang="0">
                <a:pos x="5784" y="115"/>
              </a:cxn>
              <a:cxn ang="0">
                <a:pos x="5779" y="528"/>
              </a:cxn>
              <a:cxn ang="0">
                <a:pos x="0" y="519"/>
              </a:cxn>
              <a:cxn ang="0">
                <a:pos x="0" y="371"/>
              </a:cxn>
            </a:cxnLst>
            <a:rect l="0" t="0" r="r" b="b"/>
            <a:pathLst>
              <a:path w="5784" h="528">
                <a:moveTo>
                  <a:pt x="449" y="370"/>
                </a:moveTo>
                <a:lnTo>
                  <a:pt x="768" y="1"/>
                </a:lnTo>
                <a:lnTo>
                  <a:pt x="2158" y="0"/>
                </a:lnTo>
                <a:lnTo>
                  <a:pt x="2258" y="115"/>
                </a:lnTo>
                <a:lnTo>
                  <a:pt x="5784" y="115"/>
                </a:lnTo>
                <a:lnTo>
                  <a:pt x="5779" y="528"/>
                </a:lnTo>
                <a:lnTo>
                  <a:pt x="0" y="519"/>
                </a:lnTo>
                <a:lnTo>
                  <a:pt x="0" y="371"/>
                </a:lnTo>
              </a:path>
            </a:pathLst>
          </a:custGeom>
          <a:blipFill dpi="0" rotWithShape="1">
            <a:blip r:embed="rId15" cstate="print"/>
            <a:srcRect/>
            <a:stretch>
              <a:fillRect/>
            </a:stretch>
          </a:blip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43025"/>
            <a:ext cx="8229600" cy="513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537325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1"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71888" y="6537325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1">
                <a:latin typeface="+mj-lt"/>
              </a:defRPr>
            </a:lvl1pPr>
          </a:lstStyle>
          <a:p>
            <a:fld id="{4303C685-E663-4DCF-BD9D-69D199BF0682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609600" y="579438"/>
            <a:ext cx="78486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linux.die.net/include/unistd.h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linux.die.net/include/unistd.h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linux.die.net/include/unistd.h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ow to Install Linux Kernel 5.8 in Ubuntu | LaptrinhX">
            <a:extLst>
              <a:ext uri="{FF2B5EF4-FFF2-40B4-BE49-F238E27FC236}">
                <a16:creationId xmlns:a16="http://schemas.microsoft.com/office/drawing/2014/main" id="{765CF7DE-5F40-43E4-B630-361AB36EC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187" y="3733800"/>
            <a:ext cx="2333625" cy="2381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hape 78">
            <a:extLst>
              <a:ext uri="{FF2B5EF4-FFF2-40B4-BE49-F238E27FC236}">
                <a16:creationId xmlns:a16="http://schemas.microsoft.com/office/drawing/2014/main" id="{6F041375-4F30-48DF-B1BC-E98B5B3FDF3D}"/>
              </a:ext>
            </a:extLst>
          </p:cNvPr>
          <p:cNvSpPr txBox="1">
            <a:spLocks/>
          </p:cNvSpPr>
          <p:nvPr/>
        </p:nvSpPr>
        <p:spPr>
          <a:xfrm>
            <a:off x="360755" y="796651"/>
            <a:ext cx="8422487" cy="1546500"/>
          </a:xfrm>
          <a:prstGeom prst="rect">
            <a:avLst/>
          </a:prstGeom>
        </p:spPr>
        <p:txBody>
          <a:bodyPr vert="horz" lIns="91425" tIns="91425" rIns="91425" bIns="91425" rtlCol="1" anchor="t" anchorCtr="0">
            <a:noAutofit/>
          </a:bodyPr>
          <a:lstStyle>
            <a:lvl1pPr lvl="0" algn="r" defTabSz="685800" rtl="1" eaLnBrk="1" latinLnBrk="0" hangingPunct="1">
              <a:lnSpc>
                <a:spcPct val="90000"/>
              </a:lnSpc>
              <a:spcBef>
                <a:spcPts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pPr algn="ctr"/>
            <a:r>
              <a:rPr lang="he-IL" sz="5400" b="1" dirty="0">
                <a:solidFill>
                  <a:srgbClr val="2185C5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מערכות הפעלה</a:t>
            </a:r>
            <a:br>
              <a:rPr lang="he-IL" sz="5400" dirty="0">
                <a:solidFill>
                  <a:srgbClr val="2185C5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</a:br>
            <a:r>
              <a:rPr lang="he-IL" sz="5400" dirty="0">
                <a:solidFill>
                  <a:srgbClr val="2185C5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89-231</a:t>
            </a:r>
            <a:br>
              <a:rPr lang="he-IL" sz="5400" dirty="0">
                <a:solidFill>
                  <a:srgbClr val="2185C5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</a:br>
            <a:r>
              <a:rPr lang="he-IL" sz="4000" dirty="0">
                <a:solidFill>
                  <a:srgbClr val="2185C5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תרגול מספר 5</a:t>
            </a:r>
            <a:endParaRPr lang="en-US" sz="5400" dirty="0">
              <a:solidFill>
                <a:srgbClr val="2185C5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B5F021-F7CF-492F-B99B-0A0D6B6A934B}"/>
              </a:ext>
            </a:extLst>
          </p:cNvPr>
          <p:cNvSpPr txBox="1">
            <a:spLocks/>
          </p:cNvSpPr>
          <p:nvPr/>
        </p:nvSpPr>
        <p:spPr>
          <a:xfrm>
            <a:off x="-685800" y="6477000"/>
            <a:ext cx="8598841" cy="381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1" algn="r" defTabSz="914400" rtl="1"/>
            <a:r>
              <a:rPr lang="he-IL" kern="0" dirty="0">
                <a:latin typeface="Assistant" panose="00000500000000000000" pitchFamily="2" charset="-79"/>
                <a:cs typeface="Assistant" panose="00000500000000000000" pitchFamily="2" charset="-79"/>
              </a:rPr>
              <a:t>קרדיטים: אבשלום </a:t>
            </a:r>
            <a:r>
              <a:rPr lang="he-IL" kern="0" dirty="0" err="1">
                <a:latin typeface="Assistant" panose="00000500000000000000" pitchFamily="2" charset="-79"/>
                <a:cs typeface="Assistant" panose="00000500000000000000" pitchFamily="2" charset="-79"/>
              </a:rPr>
              <a:t>אלמלח</a:t>
            </a:r>
            <a:r>
              <a:rPr lang="he-IL" kern="0" dirty="0">
                <a:latin typeface="Assistant" panose="00000500000000000000" pitchFamily="2" charset="-79"/>
                <a:cs typeface="Assistant" panose="00000500000000000000" pitchFamily="2" charset="-79"/>
              </a:rPr>
              <a:t>, חן </a:t>
            </a:r>
            <a:r>
              <a:rPr lang="he-IL" kern="0" dirty="0" err="1">
                <a:latin typeface="Assistant" panose="00000500000000000000" pitchFamily="2" charset="-79"/>
                <a:cs typeface="Assistant" panose="00000500000000000000" pitchFamily="2" charset="-79"/>
              </a:rPr>
              <a:t>חג'ג</a:t>
            </a:r>
            <a:r>
              <a:rPr lang="he-IL" kern="0" dirty="0">
                <a:latin typeface="Assistant" panose="00000500000000000000" pitchFamily="2" charset="-79"/>
                <a:cs typeface="Assistant" panose="00000500000000000000" pitchFamily="2" charset="-79"/>
              </a:rPr>
              <a:t>', שני </a:t>
            </a:r>
            <a:r>
              <a:rPr lang="he-IL" kern="0" dirty="0" err="1">
                <a:latin typeface="Assistant" panose="00000500000000000000" pitchFamily="2" charset="-79"/>
                <a:cs typeface="Assistant" panose="00000500000000000000" pitchFamily="2" charset="-79"/>
              </a:rPr>
              <a:t>אלקובי</a:t>
            </a:r>
            <a:r>
              <a:rPr lang="he-IL" kern="0" dirty="0">
                <a:latin typeface="Assistant" panose="00000500000000000000" pitchFamily="2" charset="-79"/>
                <a:cs typeface="Assistant" panose="00000500000000000000" pitchFamily="2" charset="-79"/>
              </a:rPr>
              <a:t>, </a:t>
            </a:r>
            <a:r>
              <a:rPr lang="he-IL" kern="0" dirty="0" err="1">
                <a:latin typeface="Assistant" panose="00000500000000000000" pitchFamily="2" charset="-79"/>
                <a:cs typeface="Assistant" panose="00000500000000000000" pitchFamily="2" charset="-79"/>
              </a:rPr>
              <a:t>פריאל</a:t>
            </a:r>
            <a:r>
              <a:rPr lang="he-IL" kern="0" dirty="0">
                <a:latin typeface="Assistant" panose="00000500000000000000" pitchFamily="2" charset="-79"/>
                <a:cs typeface="Assistant" panose="00000500000000000000" pitchFamily="2" charset="-79"/>
              </a:rPr>
              <a:t> לוי, מיכל </a:t>
            </a:r>
            <a:r>
              <a:rPr lang="he-IL" kern="0" dirty="0" err="1">
                <a:latin typeface="Assistant" panose="00000500000000000000" pitchFamily="2" charset="-79"/>
                <a:cs typeface="Assistant" panose="00000500000000000000" pitchFamily="2" charset="-79"/>
              </a:rPr>
              <a:t>חבאני</a:t>
            </a:r>
            <a:r>
              <a:rPr lang="he-IL" kern="0" dirty="0">
                <a:latin typeface="Assistant" panose="00000500000000000000" pitchFamily="2" charset="-79"/>
                <a:cs typeface="Assistant" panose="00000500000000000000" pitchFamily="2" charset="-79"/>
              </a:rPr>
              <a:t>, </a:t>
            </a:r>
            <a:r>
              <a:rPr lang="he-IL" kern="0" dirty="0" err="1">
                <a:latin typeface="Assistant" panose="00000500000000000000" pitchFamily="2" charset="-79"/>
                <a:cs typeface="Assistant" panose="00000500000000000000" pitchFamily="2" charset="-79"/>
              </a:rPr>
              <a:t>גילעד</a:t>
            </a:r>
            <a:r>
              <a:rPr lang="he-IL" kern="0" dirty="0">
                <a:latin typeface="Assistant" panose="00000500000000000000" pitchFamily="2" charset="-79"/>
                <a:cs typeface="Assistant" panose="00000500000000000000" pitchFamily="2" charset="-79"/>
              </a:rPr>
              <a:t> מדמון, אופיר </a:t>
            </a:r>
            <a:r>
              <a:rPr lang="he-IL" kern="0" dirty="0" err="1">
                <a:latin typeface="Assistant" panose="00000500000000000000" pitchFamily="2" charset="-79"/>
                <a:cs typeface="Assistant" panose="00000500000000000000" pitchFamily="2" charset="-79"/>
              </a:rPr>
              <a:t>הניג</a:t>
            </a:r>
            <a:r>
              <a:rPr lang="he-IL" kern="0" dirty="0">
                <a:latin typeface="Assistant" panose="00000500000000000000" pitchFamily="2" charset="-79"/>
                <a:cs typeface="Assistant" panose="00000500000000000000" pitchFamily="2" charset="-79"/>
              </a:rPr>
              <a:t>, שמעון כהן, חן רוזנשטיין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Contents</a:t>
            </a:r>
          </a:p>
        </p:txBody>
      </p:sp>
      <p:sp>
        <p:nvSpPr>
          <p:cNvPr id="86019" name="Text Box 3"/>
          <p:cNvSpPr txBox="1">
            <a:spLocks noChangeArrowheads="1"/>
          </p:cNvSpPr>
          <p:nvPr/>
        </p:nvSpPr>
        <p:spPr bwMode="auto">
          <a:xfrm>
            <a:off x="1660525" y="7223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8" name="Rectangle 12">
            <a:extLst>
              <a:ext uri="{FF2B5EF4-FFF2-40B4-BE49-F238E27FC236}">
                <a16:creationId xmlns:a16="http://schemas.microsoft.com/office/drawing/2014/main" id="{99D4B26A-6D54-447B-8A68-751ED0B7F4F6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59" name="Rectangle 12">
            <a:extLst>
              <a:ext uri="{FF2B5EF4-FFF2-40B4-BE49-F238E27FC236}">
                <a16:creationId xmlns:a16="http://schemas.microsoft.com/office/drawing/2014/main" id="{679C1943-DB6A-4891-BE72-57AF06591469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60" name="Rectangle 12">
            <a:extLst>
              <a:ext uri="{FF2B5EF4-FFF2-40B4-BE49-F238E27FC236}">
                <a16:creationId xmlns:a16="http://schemas.microsoft.com/office/drawing/2014/main" id="{0D6FA75F-175B-4206-ADAD-CEED2807B6EB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61" name="Rectangle 12">
            <a:extLst>
              <a:ext uri="{FF2B5EF4-FFF2-40B4-BE49-F238E27FC236}">
                <a16:creationId xmlns:a16="http://schemas.microsoft.com/office/drawing/2014/main" id="{EBDC9707-73EA-4BEC-B3F1-4D21632BD1D9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grpSp>
        <p:nvGrpSpPr>
          <p:cNvPr id="62" name="Group 105">
            <a:extLst>
              <a:ext uri="{FF2B5EF4-FFF2-40B4-BE49-F238E27FC236}">
                <a16:creationId xmlns:a16="http://schemas.microsoft.com/office/drawing/2014/main" id="{9DE82D22-0D05-40B7-9ED6-0B134D6D53D5}"/>
              </a:ext>
            </a:extLst>
          </p:cNvPr>
          <p:cNvGrpSpPr>
            <a:grpSpLocks/>
          </p:cNvGrpSpPr>
          <p:nvPr/>
        </p:nvGrpSpPr>
        <p:grpSpPr bwMode="auto">
          <a:xfrm>
            <a:off x="1732756" y="1689344"/>
            <a:ext cx="5367339" cy="654051"/>
            <a:chOff x="1456" y="1321"/>
            <a:chExt cx="3381" cy="412"/>
          </a:xfrm>
        </p:grpSpPr>
        <p:sp>
          <p:nvSpPr>
            <p:cNvPr id="63" name="Line 83">
              <a:extLst>
                <a:ext uri="{FF2B5EF4-FFF2-40B4-BE49-F238E27FC236}">
                  <a16:creationId xmlns:a16="http://schemas.microsoft.com/office/drawing/2014/main" id="{3198D39C-4439-430F-AECB-F67FB512F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6" y="1680"/>
              <a:ext cx="32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oval" w="med" len="med"/>
            </a:ln>
            <a:effectLst/>
          </p:spPr>
          <p:txBody>
            <a:bodyPr wrap="none" anchor="ctr"/>
            <a:lstStyle/>
            <a:p>
              <a:pPr algn="ctr" defTabSz="1219170">
                <a:buClr>
                  <a:srgbClr val="000000"/>
                </a:buClr>
              </a:pPr>
              <a:endParaRPr lang="en-US" sz="1400" kern="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  <a:sym typeface="Arial"/>
              </a:endParaRPr>
            </a:p>
          </p:txBody>
        </p:sp>
        <p:grpSp>
          <p:nvGrpSpPr>
            <p:cNvPr id="64" name="Group 75">
              <a:extLst>
                <a:ext uri="{FF2B5EF4-FFF2-40B4-BE49-F238E27FC236}">
                  <a16:creationId xmlns:a16="http://schemas.microsoft.com/office/drawing/2014/main" id="{3C571535-1274-42DA-A842-23D6016248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57" y="1321"/>
              <a:ext cx="480" cy="412"/>
              <a:chOff x="11086" y="2736"/>
              <a:chExt cx="1550" cy="1328"/>
            </a:xfrm>
          </p:grpSpPr>
          <p:sp>
            <p:nvSpPr>
              <p:cNvPr id="67" name="AutoShape 76">
                <a:extLst>
                  <a:ext uri="{FF2B5EF4-FFF2-40B4-BE49-F238E27FC236}">
                    <a16:creationId xmlns:a16="http://schemas.microsoft.com/office/drawing/2014/main" id="{72506ED3-9FCB-4F77-8B31-34C8D2110D1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086" y="273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1219170">
                  <a:buClr>
                    <a:srgbClr val="000000"/>
                  </a:buClr>
                </a:pPr>
                <a:endParaRPr lang="en-US" sz="1400" kern="0">
                  <a:solidFill>
                    <a:srgbClr val="000000"/>
                  </a:solidFill>
                  <a:latin typeface="Assistant" panose="00000500000000000000" pitchFamily="2" charset="-79"/>
                  <a:cs typeface="Assistant" panose="00000500000000000000" pitchFamily="2" charset="-79"/>
                  <a:sym typeface="Arial"/>
                </a:endParaRPr>
              </a:p>
            </p:txBody>
          </p:sp>
          <p:sp>
            <p:nvSpPr>
              <p:cNvPr id="68" name="AutoShape 77">
                <a:extLst>
                  <a:ext uri="{FF2B5EF4-FFF2-40B4-BE49-F238E27FC236}">
                    <a16:creationId xmlns:a16="http://schemas.microsoft.com/office/drawing/2014/main" id="{5A2FDEBB-F055-4EC6-9787-A04A2ECE191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0" y="273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1219170">
                  <a:buClr>
                    <a:srgbClr val="000000"/>
                  </a:buClr>
                </a:pPr>
                <a:endParaRPr lang="en-US" sz="1400" kern="0">
                  <a:solidFill>
                    <a:srgbClr val="000000"/>
                  </a:solidFill>
                  <a:latin typeface="Assistant" panose="00000500000000000000" pitchFamily="2" charset="-79"/>
                  <a:cs typeface="Assistant" panose="00000500000000000000" pitchFamily="2" charset="-79"/>
                  <a:sym typeface="Arial"/>
                </a:endParaRPr>
              </a:p>
            </p:txBody>
          </p:sp>
          <p:sp>
            <p:nvSpPr>
              <p:cNvPr id="69" name="AutoShape 78">
                <a:extLst>
                  <a:ext uri="{FF2B5EF4-FFF2-40B4-BE49-F238E27FC236}">
                    <a16:creationId xmlns:a16="http://schemas.microsoft.com/office/drawing/2014/main" id="{FACF70C0-ED6C-41FD-BAAA-DFEBF1A494E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96" y="281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1219170">
                  <a:buClr>
                    <a:srgbClr val="000000"/>
                  </a:buClr>
                </a:pPr>
                <a:endParaRPr lang="en-US" sz="1400" kern="0">
                  <a:solidFill>
                    <a:srgbClr val="000000"/>
                  </a:solidFill>
                  <a:latin typeface="Assistant" panose="00000500000000000000" pitchFamily="2" charset="-79"/>
                  <a:cs typeface="Assistant" panose="00000500000000000000" pitchFamily="2" charset="-79"/>
                  <a:sym typeface="Arial"/>
                </a:endParaRPr>
              </a:p>
            </p:txBody>
          </p:sp>
        </p:grpSp>
        <p:sp>
          <p:nvSpPr>
            <p:cNvPr id="65" name="Text Box 84">
              <a:extLst>
                <a:ext uri="{FF2B5EF4-FFF2-40B4-BE49-F238E27FC236}">
                  <a16:creationId xmlns:a16="http://schemas.microsoft.com/office/drawing/2014/main" id="{9C4D69C5-122F-4284-9EFB-DB99C0781A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5" y="1347"/>
              <a:ext cx="1045" cy="27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 rtl="1" eaLnBrk="0" hangingPunct="0"/>
              <a:r>
                <a:rPr lang="he-IL" sz="2200" dirty="0">
                  <a:solidFill>
                    <a:srgbClr val="000000"/>
                  </a:solidFill>
                  <a:latin typeface="Assistant" panose="00000500000000000000" pitchFamily="2" charset="-79"/>
                  <a:cs typeface="Assistant" panose="00000500000000000000" pitchFamily="2" charset="-79"/>
                </a:rPr>
                <a:t>תיקיות וקבצים</a:t>
              </a:r>
              <a:endParaRPr lang="en-US" sz="22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endParaRPr>
            </a:p>
          </p:txBody>
        </p:sp>
        <p:sp>
          <p:nvSpPr>
            <p:cNvPr id="66" name="Text Box 85">
              <a:extLst>
                <a:ext uri="{FF2B5EF4-FFF2-40B4-BE49-F238E27FC236}">
                  <a16:creationId xmlns:a16="http://schemas.microsoft.com/office/drawing/2014/main" id="{6897C471-4617-42E9-9C95-29FC4B5738E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98" y="1383"/>
              <a:ext cx="209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defTabSz="1219170" eaLnBrk="0" hangingPunct="0">
                <a:buClr>
                  <a:srgbClr val="000000"/>
                </a:buClr>
              </a:pPr>
              <a:r>
                <a:rPr lang="en-US" sz="2400" b="1" kern="0" dirty="0">
                  <a:solidFill>
                    <a:srgbClr val="FFFFFF"/>
                  </a:solidFill>
                  <a:latin typeface="Assistant" panose="00000500000000000000" pitchFamily="2" charset="-79"/>
                  <a:cs typeface="Assistant" panose="00000500000000000000" pitchFamily="2" charset="-79"/>
                  <a:sym typeface="Arial"/>
                </a:rPr>
                <a:t>1</a:t>
              </a:r>
            </a:p>
          </p:txBody>
        </p:sp>
      </p:grpSp>
      <p:grpSp>
        <p:nvGrpSpPr>
          <p:cNvPr id="70" name="Group 105">
            <a:extLst>
              <a:ext uri="{FF2B5EF4-FFF2-40B4-BE49-F238E27FC236}">
                <a16:creationId xmlns:a16="http://schemas.microsoft.com/office/drawing/2014/main" id="{981DDC31-61E6-4CA4-BEF3-E996CBD8C346}"/>
              </a:ext>
            </a:extLst>
          </p:cNvPr>
          <p:cNvGrpSpPr>
            <a:grpSpLocks/>
          </p:cNvGrpSpPr>
          <p:nvPr/>
        </p:nvGrpSpPr>
        <p:grpSpPr bwMode="auto">
          <a:xfrm>
            <a:off x="1720056" y="2586283"/>
            <a:ext cx="5380038" cy="654051"/>
            <a:chOff x="1448" y="1321"/>
            <a:chExt cx="3389" cy="412"/>
          </a:xfrm>
        </p:grpSpPr>
        <p:sp>
          <p:nvSpPr>
            <p:cNvPr id="71" name="Line 83">
              <a:extLst>
                <a:ext uri="{FF2B5EF4-FFF2-40B4-BE49-F238E27FC236}">
                  <a16:creationId xmlns:a16="http://schemas.microsoft.com/office/drawing/2014/main" id="{53ECF039-6DB7-440F-B283-20B4C5DBA9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8" y="1674"/>
              <a:ext cx="32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oval" w="med" len="med"/>
            </a:ln>
            <a:effectLst/>
          </p:spPr>
          <p:txBody>
            <a:bodyPr wrap="none" anchor="ctr"/>
            <a:lstStyle/>
            <a:p>
              <a:pPr algn="ctr" defTabSz="1219170">
                <a:buClr>
                  <a:srgbClr val="000000"/>
                </a:buClr>
              </a:pPr>
              <a:endParaRPr lang="en-US" sz="1400" kern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  <a:sym typeface="Arial"/>
              </a:endParaRPr>
            </a:p>
          </p:txBody>
        </p:sp>
        <p:grpSp>
          <p:nvGrpSpPr>
            <p:cNvPr id="72" name="Group 75">
              <a:extLst>
                <a:ext uri="{FF2B5EF4-FFF2-40B4-BE49-F238E27FC236}">
                  <a16:creationId xmlns:a16="http://schemas.microsoft.com/office/drawing/2014/main" id="{49A3187F-A997-49B9-AEE2-C79AF7501E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57" y="1321"/>
              <a:ext cx="480" cy="412"/>
              <a:chOff x="11086" y="2736"/>
              <a:chExt cx="1550" cy="1328"/>
            </a:xfrm>
          </p:grpSpPr>
          <p:sp>
            <p:nvSpPr>
              <p:cNvPr id="75" name="AutoShape 76">
                <a:extLst>
                  <a:ext uri="{FF2B5EF4-FFF2-40B4-BE49-F238E27FC236}">
                    <a16:creationId xmlns:a16="http://schemas.microsoft.com/office/drawing/2014/main" id="{6C0F49F9-A885-4893-9D32-63BDB3181D4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086" y="273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1219170">
                  <a:buClr>
                    <a:srgbClr val="000000"/>
                  </a:buClr>
                </a:pPr>
                <a:endParaRPr lang="en-US" sz="1400" kern="0">
                  <a:solidFill>
                    <a:srgbClr val="000000"/>
                  </a:solidFill>
                  <a:latin typeface="Assistant" panose="00000500000000000000" pitchFamily="2" charset="-79"/>
                  <a:cs typeface="Assistant" panose="00000500000000000000" pitchFamily="2" charset="-79"/>
                  <a:sym typeface="Arial"/>
                </a:endParaRPr>
              </a:p>
            </p:txBody>
          </p:sp>
          <p:sp>
            <p:nvSpPr>
              <p:cNvPr id="76" name="AutoShape 77">
                <a:extLst>
                  <a:ext uri="{FF2B5EF4-FFF2-40B4-BE49-F238E27FC236}">
                    <a16:creationId xmlns:a16="http://schemas.microsoft.com/office/drawing/2014/main" id="{392FD499-02D6-4D48-8CEF-AA2386B3CE6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0" y="273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1219170">
                  <a:buClr>
                    <a:srgbClr val="000000"/>
                  </a:buClr>
                </a:pPr>
                <a:endParaRPr lang="en-US" sz="1400" kern="0">
                  <a:solidFill>
                    <a:srgbClr val="000000"/>
                  </a:solidFill>
                  <a:latin typeface="Assistant" panose="00000500000000000000" pitchFamily="2" charset="-79"/>
                  <a:cs typeface="Assistant" panose="00000500000000000000" pitchFamily="2" charset="-79"/>
                  <a:sym typeface="Arial"/>
                </a:endParaRPr>
              </a:p>
            </p:txBody>
          </p:sp>
          <p:sp>
            <p:nvSpPr>
              <p:cNvPr id="77" name="AutoShape 78">
                <a:extLst>
                  <a:ext uri="{FF2B5EF4-FFF2-40B4-BE49-F238E27FC236}">
                    <a16:creationId xmlns:a16="http://schemas.microsoft.com/office/drawing/2014/main" id="{765B0779-6E29-4DC2-B2C3-473AB10854A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96" y="281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1219170">
                  <a:buClr>
                    <a:srgbClr val="000000"/>
                  </a:buClr>
                </a:pPr>
                <a:endParaRPr lang="en-US" sz="1400" kern="0">
                  <a:solidFill>
                    <a:srgbClr val="000000"/>
                  </a:solidFill>
                  <a:latin typeface="Assistant" panose="00000500000000000000" pitchFamily="2" charset="-79"/>
                  <a:cs typeface="Assistant" panose="00000500000000000000" pitchFamily="2" charset="-79"/>
                  <a:sym typeface="Arial"/>
                </a:endParaRPr>
              </a:p>
            </p:txBody>
          </p:sp>
        </p:grpSp>
        <p:sp>
          <p:nvSpPr>
            <p:cNvPr id="73" name="Text Box 84">
              <a:extLst>
                <a:ext uri="{FF2B5EF4-FFF2-40B4-BE49-F238E27FC236}">
                  <a16:creationId xmlns:a16="http://schemas.microsoft.com/office/drawing/2014/main" id="{17FF7E7F-0570-448C-8C8F-D39AAAD79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3" y="1327"/>
              <a:ext cx="1345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defTabSz="1219170" rtl="1" eaLnBrk="0" hangingPunct="0">
                <a:buClr>
                  <a:srgbClr val="000000"/>
                </a:buClr>
              </a:pPr>
              <a:r>
                <a:rPr lang="en-US" sz="2400" kern="0" dirty="0">
                  <a:solidFill>
                    <a:srgbClr val="000000"/>
                  </a:solidFill>
                  <a:latin typeface="Assistant" panose="00000500000000000000" pitchFamily="2" charset="-79"/>
                  <a:cs typeface="Assistant" panose="00000500000000000000" pitchFamily="2" charset="-79"/>
                  <a:sym typeface="Arial"/>
                </a:rPr>
                <a:t>File descriptors</a:t>
              </a:r>
            </a:p>
          </p:txBody>
        </p:sp>
        <p:sp>
          <p:nvSpPr>
            <p:cNvPr id="74" name="Text Box 85">
              <a:extLst>
                <a:ext uri="{FF2B5EF4-FFF2-40B4-BE49-F238E27FC236}">
                  <a16:creationId xmlns:a16="http://schemas.microsoft.com/office/drawing/2014/main" id="{1EE77C43-F769-4141-845E-D7F2109D2EEF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93" y="1383"/>
              <a:ext cx="217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defTabSz="1219170" eaLnBrk="0" hangingPunct="0">
                <a:buClr>
                  <a:srgbClr val="000000"/>
                </a:buClr>
              </a:pPr>
              <a:r>
                <a:rPr lang="en-US" sz="2400" b="1" kern="0" dirty="0">
                  <a:solidFill>
                    <a:srgbClr val="FFFFFF"/>
                  </a:solidFill>
                  <a:latin typeface="Assistant" panose="00000500000000000000" pitchFamily="2" charset="-79"/>
                  <a:cs typeface="Assistant" panose="00000500000000000000" pitchFamily="2" charset="-79"/>
                  <a:sym typeface="Arial"/>
                </a:rPr>
                <a:t>2</a:t>
              </a:r>
            </a:p>
          </p:txBody>
        </p:sp>
      </p:grpSp>
      <p:grpSp>
        <p:nvGrpSpPr>
          <p:cNvPr id="78" name="Group 105">
            <a:extLst>
              <a:ext uri="{FF2B5EF4-FFF2-40B4-BE49-F238E27FC236}">
                <a16:creationId xmlns:a16="http://schemas.microsoft.com/office/drawing/2014/main" id="{77842060-BD10-49BB-BD70-904939BD0D07}"/>
              </a:ext>
            </a:extLst>
          </p:cNvPr>
          <p:cNvGrpSpPr>
            <a:grpSpLocks/>
          </p:cNvGrpSpPr>
          <p:nvPr/>
        </p:nvGrpSpPr>
        <p:grpSpPr bwMode="auto">
          <a:xfrm>
            <a:off x="1732756" y="3480047"/>
            <a:ext cx="5368926" cy="657226"/>
            <a:chOff x="1455" y="1319"/>
            <a:chExt cx="3382" cy="414"/>
          </a:xfrm>
        </p:grpSpPr>
        <p:sp>
          <p:nvSpPr>
            <p:cNvPr id="79" name="Line 83">
              <a:extLst>
                <a:ext uri="{FF2B5EF4-FFF2-40B4-BE49-F238E27FC236}">
                  <a16:creationId xmlns:a16="http://schemas.microsoft.com/office/drawing/2014/main" id="{0CE375C5-E6CA-420D-8C99-896827C30E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1649"/>
              <a:ext cx="32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oval" w="med" len="med"/>
            </a:ln>
            <a:effectLst/>
          </p:spPr>
          <p:txBody>
            <a:bodyPr wrap="none" anchor="ctr"/>
            <a:lstStyle/>
            <a:p>
              <a:pPr algn="ctr" defTabSz="1219170">
                <a:buClr>
                  <a:srgbClr val="000000"/>
                </a:buClr>
              </a:pPr>
              <a:endParaRPr lang="en-US" sz="1400" kern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  <a:sym typeface="Arial"/>
              </a:endParaRPr>
            </a:p>
          </p:txBody>
        </p:sp>
        <p:grpSp>
          <p:nvGrpSpPr>
            <p:cNvPr id="80" name="Group 75">
              <a:extLst>
                <a:ext uri="{FF2B5EF4-FFF2-40B4-BE49-F238E27FC236}">
                  <a16:creationId xmlns:a16="http://schemas.microsoft.com/office/drawing/2014/main" id="{92C15801-0E59-46E9-95FC-0457668207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57" y="1321"/>
              <a:ext cx="480" cy="412"/>
              <a:chOff x="11086" y="2736"/>
              <a:chExt cx="1550" cy="1328"/>
            </a:xfrm>
          </p:grpSpPr>
          <p:sp>
            <p:nvSpPr>
              <p:cNvPr id="83" name="AutoShape 76">
                <a:extLst>
                  <a:ext uri="{FF2B5EF4-FFF2-40B4-BE49-F238E27FC236}">
                    <a16:creationId xmlns:a16="http://schemas.microsoft.com/office/drawing/2014/main" id="{4D6B99AA-39AD-4F99-9E14-1D16794F35A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086" y="273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1219170">
                  <a:buClr>
                    <a:srgbClr val="000000"/>
                  </a:buClr>
                </a:pPr>
                <a:endParaRPr lang="en-US" sz="1400" kern="0">
                  <a:solidFill>
                    <a:srgbClr val="000000"/>
                  </a:solidFill>
                  <a:latin typeface="Assistant" panose="00000500000000000000" pitchFamily="2" charset="-79"/>
                  <a:cs typeface="Assistant" panose="00000500000000000000" pitchFamily="2" charset="-79"/>
                  <a:sym typeface="Arial"/>
                </a:endParaRPr>
              </a:p>
            </p:txBody>
          </p:sp>
          <p:sp>
            <p:nvSpPr>
              <p:cNvPr id="84" name="AutoShape 77">
                <a:extLst>
                  <a:ext uri="{FF2B5EF4-FFF2-40B4-BE49-F238E27FC236}">
                    <a16:creationId xmlns:a16="http://schemas.microsoft.com/office/drawing/2014/main" id="{26FA7E1E-6664-4141-9BB1-571B6C53308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0" y="273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1219170">
                  <a:buClr>
                    <a:srgbClr val="000000"/>
                  </a:buClr>
                </a:pPr>
                <a:endParaRPr lang="en-US" sz="1400" kern="0">
                  <a:solidFill>
                    <a:srgbClr val="000000"/>
                  </a:solidFill>
                  <a:latin typeface="Assistant" panose="00000500000000000000" pitchFamily="2" charset="-79"/>
                  <a:cs typeface="Assistant" panose="00000500000000000000" pitchFamily="2" charset="-79"/>
                  <a:sym typeface="Arial"/>
                </a:endParaRPr>
              </a:p>
            </p:txBody>
          </p:sp>
          <p:sp>
            <p:nvSpPr>
              <p:cNvPr id="85" name="AutoShape 78">
                <a:extLst>
                  <a:ext uri="{FF2B5EF4-FFF2-40B4-BE49-F238E27FC236}">
                    <a16:creationId xmlns:a16="http://schemas.microsoft.com/office/drawing/2014/main" id="{08289CB4-B2FE-4626-A594-96F4EA749D8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96" y="281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1219170">
                  <a:buClr>
                    <a:srgbClr val="000000"/>
                  </a:buClr>
                </a:pPr>
                <a:endParaRPr lang="en-US" sz="1400" kern="0">
                  <a:solidFill>
                    <a:srgbClr val="000000"/>
                  </a:solidFill>
                  <a:latin typeface="Assistant" panose="00000500000000000000" pitchFamily="2" charset="-79"/>
                  <a:cs typeface="Assistant" panose="00000500000000000000" pitchFamily="2" charset="-79"/>
                  <a:sym typeface="Arial"/>
                </a:endParaRPr>
              </a:p>
            </p:txBody>
          </p:sp>
        </p:grpSp>
        <p:sp>
          <p:nvSpPr>
            <p:cNvPr id="81" name="Text Box 84">
              <a:extLst>
                <a:ext uri="{FF2B5EF4-FFF2-40B4-BE49-F238E27FC236}">
                  <a16:creationId xmlns:a16="http://schemas.microsoft.com/office/drawing/2014/main" id="{CCCEAEE8-77FC-47D2-A123-8EF0AD411E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1" y="1319"/>
              <a:ext cx="1533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defTabSz="1219170" eaLnBrk="0" hangingPunct="0">
                <a:buClr>
                  <a:srgbClr val="000000"/>
                </a:buClr>
              </a:pPr>
              <a:r>
                <a:rPr lang="he-IL" sz="2400" kern="0" dirty="0">
                  <a:solidFill>
                    <a:srgbClr val="000000"/>
                  </a:solidFill>
                  <a:latin typeface="Assistant" panose="00000500000000000000" pitchFamily="2" charset="-79"/>
                  <a:cs typeface="Assistant" panose="00000500000000000000" pitchFamily="2" charset="-79"/>
                  <a:sym typeface="Arial"/>
                </a:rPr>
                <a:t>מערכת ניהול קבצים</a:t>
              </a:r>
              <a:endParaRPr lang="en-US" sz="2400" kern="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  <a:sym typeface="Arial"/>
              </a:endParaRPr>
            </a:p>
          </p:txBody>
        </p:sp>
        <p:sp>
          <p:nvSpPr>
            <p:cNvPr id="82" name="Text Box 85">
              <a:extLst>
                <a:ext uri="{FF2B5EF4-FFF2-40B4-BE49-F238E27FC236}">
                  <a16:creationId xmlns:a16="http://schemas.microsoft.com/office/drawing/2014/main" id="{B0D5AABD-BA7B-4F6F-9974-BEAE81B0A9E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93" y="1383"/>
              <a:ext cx="217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defTabSz="1219170" eaLnBrk="0" hangingPunct="0">
                <a:buClr>
                  <a:srgbClr val="000000"/>
                </a:buClr>
              </a:pPr>
              <a:r>
                <a:rPr lang="en-US" sz="2400" b="1" kern="0" dirty="0">
                  <a:solidFill>
                    <a:srgbClr val="FFFFFF"/>
                  </a:solidFill>
                  <a:latin typeface="Assistant" panose="00000500000000000000" pitchFamily="2" charset="-79"/>
                  <a:cs typeface="Assistant" panose="00000500000000000000" pitchFamily="2" charset="-79"/>
                  <a:sym typeface="Arial"/>
                </a:rPr>
                <a:t>3</a:t>
              </a:r>
            </a:p>
          </p:txBody>
        </p:sp>
      </p:grpSp>
      <p:grpSp>
        <p:nvGrpSpPr>
          <p:cNvPr id="86" name="Group 105">
            <a:extLst>
              <a:ext uri="{FF2B5EF4-FFF2-40B4-BE49-F238E27FC236}">
                <a16:creationId xmlns:a16="http://schemas.microsoft.com/office/drawing/2014/main" id="{C947E148-5975-4FE5-90E4-B09A1A0A52D2}"/>
              </a:ext>
            </a:extLst>
          </p:cNvPr>
          <p:cNvGrpSpPr>
            <a:grpSpLocks/>
          </p:cNvGrpSpPr>
          <p:nvPr/>
        </p:nvGrpSpPr>
        <p:grpSpPr bwMode="auto">
          <a:xfrm>
            <a:off x="1731168" y="4332539"/>
            <a:ext cx="5368926" cy="701677"/>
            <a:chOff x="1455" y="1291"/>
            <a:chExt cx="3382" cy="442"/>
          </a:xfrm>
        </p:grpSpPr>
        <p:sp>
          <p:nvSpPr>
            <p:cNvPr id="87" name="Line 83">
              <a:extLst>
                <a:ext uri="{FF2B5EF4-FFF2-40B4-BE49-F238E27FC236}">
                  <a16:creationId xmlns:a16="http://schemas.microsoft.com/office/drawing/2014/main" id="{A5B613FB-78FD-4A1D-AC10-2829A672BB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1649"/>
              <a:ext cx="32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oval" w="med" len="med"/>
            </a:ln>
            <a:effectLst/>
          </p:spPr>
          <p:txBody>
            <a:bodyPr wrap="none" anchor="ctr"/>
            <a:lstStyle/>
            <a:p>
              <a:pPr algn="ctr" defTabSz="1219170">
                <a:buClr>
                  <a:srgbClr val="000000"/>
                </a:buClr>
              </a:pPr>
              <a:endParaRPr lang="en-US" sz="1400" kern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  <a:sym typeface="Arial"/>
              </a:endParaRPr>
            </a:p>
          </p:txBody>
        </p:sp>
        <p:grpSp>
          <p:nvGrpSpPr>
            <p:cNvPr id="88" name="Group 75">
              <a:extLst>
                <a:ext uri="{FF2B5EF4-FFF2-40B4-BE49-F238E27FC236}">
                  <a16:creationId xmlns:a16="http://schemas.microsoft.com/office/drawing/2014/main" id="{6B67E192-6C6B-45CE-B801-D8F330BFBC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57" y="1321"/>
              <a:ext cx="480" cy="412"/>
              <a:chOff x="11086" y="2736"/>
              <a:chExt cx="1550" cy="1328"/>
            </a:xfrm>
          </p:grpSpPr>
          <p:sp>
            <p:nvSpPr>
              <p:cNvPr id="91" name="AutoShape 76">
                <a:extLst>
                  <a:ext uri="{FF2B5EF4-FFF2-40B4-BE49-F238E27FC236}">
                    <a16:creationId xmlns:a16="http://schemas.microsoft.com/office/drawing/2014/main" id="{734C3914-B7BC-494A-BF66-94074347DAA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086" y="273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1219170">
                  <a:buClr>
                    <a:srgbClr val="000000"/>
                  </a:buClr>
                </a:pPr>
                <a:endParaRPr lang="en-US" sz="1400" kern="0">
                  <a:solidFill>
                    <a:srgbClr val="000000"/>
                  </a:solidFill>
                  <a:latin typeface="Assistant" panose="00000500000000000000" pitchFamily="2" charset="-79"/>
                  <a:cs typeface="Assistant" panose="00000500000000000000" pitchFamily="2" charset="-79"/>
                  <a:sym typeface="Arial"/>
                </a:endParaRPr>
              </a:p>
            </p:txBody>
          </p:sp>
          <p:sp>
            <p:nvSpPr>
              <p:cNvPr id="92" name="AutoShape 77">
                <a:extLst>
                  <a:ext uri="{FF2B5EF4-FFF2-40B4-BE49-F238E27FC236}">
                    <a16:creationId xmlns:a16="http://schemas.microsoft.com/office/drawing/2014/main" id="{A45ED0AD-817D-4292-8BF7-42569560C8A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0" y="273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1219170">
                  <a:buClr>
                    <a:srgbClr val="000000"/>
                  </a:buClr>
                </a:pPr>
                <a:endParaRPr lang="en-US" sz="1400" kern="0">
                  <a:solidFill>
                    <a:srgbClr val="000000"/>
                  </a:solidFill>
                  <a:latin typeface="Assistant" panose="00000500000000000000" pitchFamily="2" charset="-79"/>
                  <a:cs typeface="Assistant" panose="00000500000000000000" pitchFamily="2" charset="-79"/>
                  <a:sym typeface="Arial"/>
                </a:endParaRPr>
              </a:p>
            </p:txBody>
          </p:sp>
          <p:sp>
            <p:nvSpPr>
              <p:cNvPr id="93" name="AutoShape 78">
                <a:extLst>
                  <a:ext uri="{FF2B5EF4-FFF2-40B4-BE49-F238E27FC236}">
                    <a16:creationId xmlns:a16="http://schemas.microsoft.com/office/drawing/2014/main" id="{2E75248D-3D3E-439B-B89C-C5766D60CF0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96" y="281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1219170">
                  <a:buClr>
                    <a:srgbClr val="000000"/>
                  </a:buClr>
                </a:pPr>
                <a:endParaRPr lang="en-US" sz="1400" kern="0">
                  <a:solidFill>
                    <a:srgbClr val="000000"/>
                  </a:solidFill>
                  <a:latin typeface="Assistant" panose="00000500000000000000" pitchFamily="2" charset="-79"/>
                  <a:cs typeface="Assistant" panose="00000500000000000000" pitchFamily="2" charset="-79"/>
                  <a:sym typeface="Arial"/>
                </a:endParaRPr>
              </a:p>
            </p:txBody>
          </p:sp>
        </p:grpSp>
        <p:sp>
          <p:nvSpPr>
            <p:cNvPr id="89" name="Text Box 84">
              <a:extLst>
                <a:ext uri="{FF2B5EF4-FFF2-40B4-BE49-F238E27FC236}">
                  <a16:creationId xmlns:a16="http://schemas.microsoft.com/office/drawing/2014/main" id="{FCA7C5DD-5CD5-4456-8106-9D9198E0E1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0" y="1291"/>
              <a:ext cx="1558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 rtl="1" eaLnBrk="0" hangingPunct="0"/>
              <a:r>
                <a:rPr lang="en-US" sz="2400" dirty="0">
                  <a:solidFill>
                    <a:srgbClr val="000000"/>
                  </a:solidFill>
                  <a:latin typeface="Assistant" panose="00000500000000000000" pitchFamily="2" charset="-79"/>
                  <a:cs typeface="Assistant" panose="00000500000000000000" pitchFamily="2" charset="-79"/>
                </a:rPr>
                <a:t>dup</a:t>
              </a:r>
              <a:r>
                <a:rPr lang="he-IL" sz="2400" dirty="0">
                  <a:solidFill>
                    <a:srgbClr val="000000"/>
                  </a:solidFill>
                  <a:latin typeface="Assistant" panose="00000500000000000000" pitchFamily="2" charset="-79"/>
                  <a:cs typeface="Assistant" panose="00000500000000000000" pitchFamily="2" charset="-79"/>
                </a:rPr>
                <a:t>, טיפול בשגיאות</a:t>
              </a:r>
              <a:endPara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endParaRPr>
            </a:p>
          </p:txBody>
        </p:sp>
        <p:sp>
          <p:nvSpPr>
            <p:cNvPr id="90" name="Text Box 85">
              <a:extLst>
                <a:ext uri="{FF2B5EF4-FFF2-40B4-BE49-F238E27FC236}">
                  <a16:creationId xmlns:a16="http://schemas.microsoft.com/office/drawing/2014/main" id="{06A83057-8ADF-40A6-9639-B1B87B7E95A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93" y="1383"/>
              <a:ext cx="217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defTabSz="1219170" eaLnBrk="0" hangingPunct="0">
                <a:buClr>
                  <a:srgbClr val="000000"/>
                </a:buClr>
              </a:pPr>
              <a:r>
                <a:rPr lang="en-US" sz="2400" b="1" kern="0" dirty="0">
                  <a:solidFill>
                    <a:srgbClr val="FFFFFF"/>
                  </a:solidFill>
                  <a:latin typeface="Assistant" panose="00000500000000000000" pitchFamily="2" charset="-79"/>
                  <a:cs typeface="Assistant" panose="00000500000000000000" pitchFamily="2" charset="-79"/>
                  <a:sym typeface="Arial"/>
                </a:rPr>
                <a:t>4</a:t>
              </a:r>
            </a:p>
          </p:txBody>
        </p:sp>
      </p:grpSp>
      <p:grpSp>
        <p:nvGrpSpPr>
          <p:cNvPr id="102" name="Group 105">
            <a:extLst>
              <a:ext uri="{FF2B5EF4-FFF2-40B4-BE49-F238E27FC236}">
                <a16:creationId xmlns:a16="http://schemas.microsoft.com/office/drawing/2014/main" id="{67188273-6609-42AC-8626-25EFAA785023}"/>
              </a:ext>
            </a:extLst>
          </p:cNvPr>
          <p:cNvGrpSpPr>
            <a:grpSpLocks/>
          </p:cNvGrpSpPr>
          <p:nvPr/>
        </p:nvGrpSpPr>
        <p:grpSpPr bwMode="auto">
          <a:xfrm>
            <a:off x="1720056" y="5266542"/>
            <a:ext cx="5368926" cy="658813"/>
            <a:chOff x="1455" y="1318"/>
            <a:chExt cx="3382" cy="415"/>
          </a:xfrm>
        </p:grpSpPr>
        <p:sp>
          <p:nvSpPr>
            <p:cNvPr id="103" name="Line 83">
              <a:extLst>
                <a:ext uri="{FF2B5EF4-FFF2-40B4-BE49-F238E27FC236}">
                  <a16:creationId xmlns:a16="http://schemas.microsoft.com/office/drawing/2014/main" id="{FCE96558-31DE-49EE-B628-C2145FD02F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1649"/>
              <a:ext cx="32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oval" w="med" len="med"/>
            </a:ln>
            <a:effectLst/>
          </p:spPr>
          <p:txBody>
            <a:bodyPr wrap="none" anchor="ctr"/>
            <a:lstStyle/>
            <a:p>
              <a:pPr algn="ctr" defTabSz="1219170">
                <a:buClr>
                  <a:srgbClr val="000000"/>
                </a:buClr>
              </a:pPr>
              <a:endParaRPr lang="en-US" sz="1400" kern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  <a:sym typeface="Arial"/>
              </a:endParaRPr>
            </a:p>
          </p:txBody>
        </p:sp>
        <p:grpSp>
          <p:nvGrpSpPr>
            <p:cNvPr id="104" name="Group 75">
              <a:extLst>
                <a:ext uri="{FF2B5EF4-FFF2-40B4-BE49-F238E27FC236}">
                  <a16:creationId xmlns:a16="http://schemas.microsoft.com/office/drawing/2014/main" id="{E7310B2E-8FC9-4085-86B9-5C2C2B1736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57" y="1321"/>
              <a:ext cx="480" cy="412"/>
              <a:chOff x="11086" y="2736"/>
              <a:chExt cx="1550" cy="1328"/>
            </a:xfrm>
          </p:grpSpPr>
          <p:sp>
            <p:nvSpPr>
              <p:cNvPr id="107" name="AutoShape 76">
                <a:extLst>
                  <a:ext uri="{FF2B5EF4-FFF2-40B4-BE49-F238E27FC236}">
                    <a16:creationId xmlns:a16="http://schemas.microsoft.com/office/drawing/2014/main" id="{4E213E3A-E554-41CE-85C0-F72474CE8AA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086" y="273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1219170">
                  <a:buClr>
                    <a:srgbClr val="000000"/>
                  </a:buClr>
                </a:pPr>
                <a:endParaRPr lang="en-US" sz="1400" kern="0">
                  <a:solidFill>
                    <a:srgbClr val="000000"/>
                  </a:solidFill>
                  <a:latin typeface="Assistant" panose="00000500000000000000" pitchFamily="2" charset="-79"/>
                  <a:cs typeface="Assistant" panose="00000500000000000000" pitchFamily="2" charset="-79"/>
                  <a:sym typeface="Arial"/>
                </a:endParaRPr>
              </a:p>
            </p:txBody>
          </p:sp>
          <p:sp>
            <p:nvSpPr>
              <p:cNvPr id="108" name="AutoShape 77">
                <a:extLst>
                  <a:ext uri="{FF2B5EF4-FFF2-40B4-BE49-F238E27FC236}">
                    <a16:creationId xmlns:a16="http://schemas.microsoft.com/office/drawing/2014/main" id="{134C8731-5F3D-4DA4-9C91-C5084474ADE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0" y="273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1219170">
                  <a:buClr>
                    <a:srgbClr val="000000"/>
                  </a:buClr>
                </a:pPr>
                <a:endParaRPr lang="en-US" sz="1400" kern="0">
                  <a:solidFill>
                    <a:srgbClr val="000000"/>
                  </a:solidFill>
                  <a:latin typeface="Assistant" panose="00000500000000000000" pitchFamily="2" charset="-79"/>
                  <a:cs typeface="Assistant" panose="00000500000000000000" pitchFamily="2" charset="-79"/>
                  <a:sym typeface="Arial"/>
                </a:endParaRPr>
              </a:p>
            </p:txBody>
          </p:sp>
          <p:sp>
            <p:nvSpPr>
              <p:cNvPr id="109" name="AutoShape 78">
                <a:extLst>
                  <a:ext uri="{FF2B5EF4-FFF2-40B4-BE49-F238E27FC236}">
                    <a16:creationId xmlns:a16="http://schemas.microsoft.com/office/drawing/2014/main" id="{75B87679-33FD-415A-9024-D80C5BE4CA8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96" y="281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1219170">
                  <a:buClr>
                    <a:srgbClr val="000000"/>
                  </a:buClr>
                </a:pPr>
                <a:endParaRPr lang="en-US" sz="1400" kern="0">
                  <a:solidFill>
                    <a:srgbClr val="000000"/>
                  </a:solidFill>
                  <a:latin typeface="Assistant" panose="00000500000000000000" pitchFamily="2" charset="-79"/>
                  <a:cs typeface="Assistant" panose="00000500000000000000" pitchFamily="2" charset="-79"/>
                  <a:sym typeface="Arial"/>
                </a:endParaRPr>
              </a:p>
            </p:txBody>
          </p:sp>
        </p:grpSp>
        <p:sp>
          <p:nvSpPr>
            <p:cNvPr id="105" name="Text Box 84">
              <a:extLst>
                <a:ext uri="{FF2B5EF4-FFF2-40B4-BE49-F238E27FC236}">
                  <a16:creationId xmlns:a16="http://schemas.microsoft.com/office/drawing/2014/main" id="{391D0F99-0584-490D-BE33-FAF5CB8A4F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7" y="1318"/>
              <a:ext cx="848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defTabSz="1219170" eaLnBrk="0" hangingPunct="0">
                <a:buClr>
                  <a:srgbClr val="000000"/>
                </a:buClr>
              </a:pPr>
              <a:r>
                <a:rPr lang="en-US" sz="2400" kern="0" dirty="0">
                  <a:solidFill>
                    <a:srgbClr val="000000"/>
                  </a:solidFill>
                  <a:latin typeface="Assistant" panose="00000500000000000000" pitchFamily="2" charset="-79"/>
                  <a:cs typeface="Assistant" panose="00000500000000000000" pitchFamily="2" charset="-79"/>
                  <a:sym typeface="Arial"/>
                </a:rPr>
                <a:t>buffering</a:t>
              </a:r>
            </a:p>
          </p:txBody>
        </p:sp>
        <p:sp>
          <p:nvSpPr>
            <p:cNvPr id="106" name="Text Box 85">
              <a:extLst>
                <a:ext uri="{FF2B5EF4-FFF2-40B4-BE49-F238E27FC236}">
                  <a16:creationId xmlns:a16="http://schemas.microsoft.com/office/drawing/2014/main" id="{460F247A-6851-476B-B0A4-2F44903B0F0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493" y="1383"/>
              <a:ext cx="217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defTabSz="1219170" eaLnBrk="0" hangingPunct="0">
                <a:buClr>
                  <a:srgbClr val="000000"/>
                </a:buClr>
              </a:pPr>
              <a:r>
                <a:rPr lang="en-US" sz="2400" b="1" kern="0" dirty="0">
                  <a:solidFill>
                    <a:srgbClr val="FFFFFF"/>
                  </a:solidFill>
                  <a:latin typeface="Assistant" panose="00000500000000000000" pitchFamily="2" charset="-79"/>
                  <a:cs typeface="Assistant" panose="00000500000000000000" pitchFamily="2" charset="-79"/>
                  <a:sym typeface="Arial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מידע על תיקיה</a:t>
            </a:r>
            <a:endParaRPr lang="en-US" b="1" dirty="0">
              <a:solidFill>
                <a:srgbClr val="0070C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ro-RO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#include &lt;dirent.h&gt; </a:t>
            </a:r>
          </a:p>
          <a:p>
            <a:pPr>
              <a:buNone/>
            </a:pPr>
            <a:r>
              <a:rPr lang="ro-RO" sz="2400" b="1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DIR*</a:t>
            </a:r>
            <a:r>
              <a:rPr lang="ro-RO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opendir(</a:t>
            </a:r>
            <a:r>
              <a:rPr lang="ro-RO" sz="2400" b="1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const char*</a:t>
            </a:r>
            <a:r>
              <a:rPr lang="ro-RO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pathname);</a:t>
            </a:r>
            <a:endParaRPr lang="he-IL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>
              <a:buNone/>
            </a:pPr>
            <a:endParaRPr lang="he-IL" sz="2400" dirty="0">
              <a:solidFill>
                <a:schemeClr val="tx2"/>
              </a:solidFill>
            </a:endParaRPr>
          </a:p>
          <a:p>
            <a:pPr algn="r" rtl="1">
              <a:buNone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כדי לגשת למידע בנוגע לתיקיה יש להשתמש ב-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opendir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  <a:endParaRPr lang="en-US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>
              <a:lnSpc>
                <a:spcPct val="100000"/>
              </a:lnSpc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he-IL" altLang="he-IL" sz="16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ערך מוחזר:</a:t>
            </a:r>
          </a:p>
          <a:p>
            <a:pPr lvl="1" algn="r" rtl="1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he-IL" altLang="he-IL" sz="1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בהצלחה: מצביע למבנה מסוג </a:t>
            </a:r>
            <a:r>
              <a:rPr lang="en-US" altLang="he-IL" sz="1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DIR</a:t>
            </a:r>
            <a:r>
              <a:rPr lang="he-IL" altLang="he-IL" sz="1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 </a:t>
            </a:r>
            <a:r>
              <a:rPr lang="he-IL" sz="1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המצביע הוא </a:t>
            </a:r>
            <a:r>
              <a:rPr lang="en-US" sz="1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stream</a:t>
            </a:r>
            <a:r>
              <a:rPr lang="he-IL" sz="1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של מידע, ובעת יצירה ממוקם ברשומה הראשונה בתיקיה. המצביע מכיל את המיקום הנוכחי בתיקייה. </a:t>
            </a:r>
          </a:p>
          <a:p>
            <a:pPr lvl="1" algn="r" rtl="1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he-IL" altLang="he-IL" sz="1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בכישלון: </a:t>
            </a:r>
            <a:r>
              <a:rPr lang="en-US" altLang="he-IL" sz="1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NULL</a:t>
            </a:r>
            <a:endParaRPr lang="en-US" sz="20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>
              <a:buNone/>
            </a:pPr>
            <a:endParaRPr lang="he-IL" sz="2400" dirty="0">
              <a:solidFill>
                <a:schemeClr val="tx2"/>
              </a:solidFill>
            </a:endParaRPr>
          </a:p>
          <a:p>
            <a:pPr algn="just">
              <a:buNone/>
            </a:pPr>
            <a:r>
              <a:rPr lang="en-US" sz="2400" b="1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closedir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en-US" sz="2400" b="1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DIR*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dp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);</a:t>
            </a:r>
            <a:endParaRPr lang="he-IL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>
              <a:buNone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כדי לסגור משתנה מסוג 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DIR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המייצג תיקיה פתוחה, יש להשתמש ב-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closedir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</a:p>
          <a:p>
            <a:pPr algn="r" rtl="1">
              <a:lnSpc>
                <a:spcPct val="100000"/>
              </a:lnSpc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he-IL" altLang="he-IL" sz="16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ערך מוחזר:</a:t>
            </a:r>
          </a:p>
          <a:p>
            <a:pPr lvl="1" algn="r" rtl="1">
              <a:lnSpc>
                <a:spcPct val="100000"/>
              </a:lnSpc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he-IL" altLang="he-IL" sz="1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בהצלחה מוחזר 0</a:t>
            </a:r>
          </a:p>
          <a:p>
            <a:pPr lvl="1" algn="r" rtl="1">
              <a:lnSpc>
                <a:spcPct val="100000"/>
              </a:lnSpc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he-IL" altLang="he-IL" sz="1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בכישלון </a:t>
            </a:r>
            <a:r>
              <a:rPr lang="en-US" altLang="he-IL" sz="1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-1</a:t>
            </a:r>
            <a:endParaRPr lang="en-US" sz="20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CED5329-D811-43AD-95B7-19B8CDA1A41A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5AA8784F-76A8-4F02-A408-2CA9878C5023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49C8B06C-1F5F-4F34-8549-F862885D276B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F4CC41E3-81D5-4A92-BAFB-1D8DBBEDA4AC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BC4E4C22-6355-42B6-9328-EA52F9018A6A}"/>
              </a:ext>
            </a:extLst>
          </p:cNvPr>
          <p:cNvSpPr/>
          <p:nvPr/>
        </p:nvSpPr>
        <p:spPr>
          <a:xfrm>
            <a:off x="381000" y="1405217"/>
            <a:ext cx="5424488" cy="880783"/>
          </a:xfrm>
          <a:prstGeom prst="roundRect">
            <a:avLst/>
          </a:prstGeom>
          <a:noFill/>
          <a:ln w="38100">
            <a:solidFill>
              <a:srgbClr val="2CD2C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מלבן: פינות מעוגלות 10">
            <a:extLst>
              <a:ext uri="{FF2B5EF4-FFF2-40B4-BE49-F238E27FC236}">
                <a16:creationId xmlns:a16="http://schemas.microsoft.com/office/drawing/2014/main" id="{A9F9ECCA-6A3B-4290-8A57-E39BFA56C7BA}"/>
              </a:ext>
            </a:extLst>
          </p:cNvPr>
          <p:cNvSpPr/>
          <p:nvPr/>
        </p:nvSpPr>
        <p:spPr>
          <a:xfrm>
            <a:off x="381000" y="4285596"/>
            <a:ext cx="3124200" cy="438804"/>
          </a:xfrm>
          <a:prstGeom prst="roundRect">
            <a:avLst/>
          </a:prstGeom>
          <a:noFill/>
          <a:ln w="38100">
            <a:solidFill>
              <a:srgbClr val="2CD2C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מידע על תיקיה</a:t>
            </a:r>
            <a:endParaRPr lang="en-US" b="1" dirty="0">
              <a:solidFill>
                <a:srgbClr val="0070C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o-RO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struct dirent { </a:t>
            </a:r>
          </a:p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	</a:t>
            </a:r>
            <a:r>
              <a:rPr lang="ro-RO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ino_t d_fileno;  // i-node n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umbe</a:t>
            </a:r>
            <a:r>
              <a:rPr lang="ro-RO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r.  </a:t>
            </a:r>
          </a:p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	</a:t>
            </a:r>
            <a:r>
              <a:rPr lang="ro-RO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char d_name[NAM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E_MAX</a:t>
            </a:r>
            <a:r>
              <a:rPr lang="ro-RO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+ 1]; // file name</a:t>
            </a:r>
            <a:endParaRPr lang="he-IL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>
              <a:buNone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...    </a:t>
            </a:r>
            <a:endParaRPr lang="ro-RO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>
              <a:buNone/>
            </a:pPr>
            <a:r>
              <a:rPr lang="ro-RO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}</a:t>
            </a:r>
          </a:p>
          <a:p>
            <a:pPr marL="0" indent="0" algn="l">
              <a:buClr>
                <a:srgbClr val="0070C0"/>
              </a:buClr>
              <a:buNone/>
            </a:pPr>
            <a:r>
              <a:rPr lang="ro-RO" sz="2400" b="1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struct dirent*</a:t>
            </a:r>
            <a:r>
              <a:rPr lang="ro-RO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readdir(</a:t>
            </a:r>
            <a:r>
              <a:rPr lang="ro-RO" sz="2400" b="1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DIR*</a:t>
            </a:r>
            <a:r>
              <a:rPr lang="ro-RO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dp);</a:t>
            </a:r>
            <a:endParaRPr lang="en-US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0" indent="0" algn="r" rtl="1">
              <a:buClr>
                <a:srgbClr val="0070C0"/>
              </a:buClr>
              <a:buNone/>
            </a:pPr>
            <a:endParaRPr lang="he-IL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כדי לקבל מידע על רשומה בתיקיה יש להשתמש ב-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readdir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</a:p>
          <a:p>
            <a:pPr algn="r" rtl="1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כל קריאה לפונקציה תחזיר מידע על הרשומה הבאה בתיקיה עד שלבסוף יחזור 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NULL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  <a:endParaRPr lang="en-US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הפונקציה לא מבטיחה סדר מסוים בנתונים החוזרים.</a:t>
            </a:r>
            <a:endParaRPr lang="en-US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D78716E-D10D-4EFA-99A9-4863165D5C53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4BA01641-35A6-434E-8C97-A933A85F42F7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420BDD2F-C735-4519-A65C-CA32EB7D816B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F68E658D-05FA-415C-AFDD-1B352CBC239C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7B6B8F24-70B6-42EC-8831-C6178727EDBC}"/>
              </a:ext>
            </a:extLst>
          </p:cNvPr>
          <p:cNvSpPr/>
          <p:nvPr/>
        </p:nvSpPr>
        <p:spPr>
          <a:xfrm>
            <a:off x="381000" y="1405217"/>
            <a:ext cx="6400800" cy="2633383"/>
          </a:xfrm>
          <a:prstGeom prst="roundRect">
            <a:avLst/>
          </a:prstGeom>
          <a:noFill/>
          <a:ln w="38100">
            <a:solidFill>
              <a:srgbClr val="2CD2C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altLang="he-IL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דוגמא לסריקת תיקיה</a:t>
            </a:r>
          </a:p>
        </p:txBody>
      </p:sp>
      <p:sp>
        <p:nvSpPr>
          <p:cNvPr id="349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243012"/>
            <a:ext cx="6400800" cy="4371975"/>
          </a:xfrm>
        </p:spPr>
        <p:txBody>
          <a:bodyPr/>
          <a:lstStyle/>
          <a:p>
            <a:pPr>
              <a:lnSpc>
                <a:spcPct val="105000"/>
              </a:lnSpc>
              <a:buNone/>
            </a:pP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#include &lt;</a:t>
            </a:r>
            <a:r>
              <a:rPr lang="en-US" altLang="he-IL" sz="18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stdio.h</a:t>
            </a: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&gt;</a:t>
            </a:r>
          </a:p>
          <a:p>
            <a:pPr>
              <a:lnSpc>
                <a:spcPct val="105000"/>
              </a:lnSpc>
              <a:buNone/>
            </a:pP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#include &lt;</a:t>
            </a:r>
            <a:r>
              <a:rPr lang="en-US" altLang="he-IL" sz="18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dirent.h</a:t>
            </a: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&gt;</a:t>
            </a:r>
          </a:p>
          <a:p>
            <a:pPr>
              <a:lnSpc>
                <a:spcPct val="105000"/>
              </a:lnSpc>
              <a:buNone/>
            </a:pPr>
            <a:endParaRPr lang="en-US" altLang="he-IL" sz="18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>
              <a:lnSpc>
                <a:spcPct val="105000"/>
              </a:lnSpc>
              <a:buNone/>
            </a:pP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main(</a:t>
            </a:r>
            <a:r>
              <a:rPr lang="en-US" altLang="he-IL" sz="18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</a:t>
            </a: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altLang="he-IL" sz="18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argc</a:t>
            </a: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 char **</a:t>
            </a:r>
            <a:r>
              <a:rPr lang="en-US" altLang="he-IL" sz="18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argv</a:t>
            </a: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 </a:t>
            </a:r>
          </a:p>
          <a:p>
            <a:pPr>
              <a:lnSpc>
                <a:spcPct val="105000"/>
              </a:lnSpc>
              <a:buNone/>
            </a:pP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{ </a:t>
            </a:r>
          </a:p>
          <a:p>
            <a:pPr>
              <a:lnSpc>
                <a:spcPct val="105000"/>
              </a:lnSpc>
              <a:buNone/>
            </a:pP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	DIR *</a:t>
            </a:r>
            <a:r>
              <a:rPr lang="en-US" altLang="he-IL" sz="18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pDir</a:t>
            </a: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; </a:t>
            </a:r>
          </a:p>
          <a:p>
            <a:pPr>
              <a:lnSpc>
                <a:spcPct val="105000"/>
              </a:lnSpc>
              <a:buNone/>
            </a:pP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	</a:t>
            </a:r>
            <a:r>
              <a:rPr lang="en-US" altLang="he-IL" sz="18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struct</a:t>
            </a: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altLang="he-IL" sz="18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dirent</a:t>
            </a: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*</a:t>
            </a:r>
            <a:r>
              <a:rPr lang="en-US" altLang="he-IL" sz="18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pDirent</a:t>
            </a: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; </a:t>
            </a:r>
          </a:p>
          <a:p>
            <a:pPr>
              <a:lnSpc>
                <a:spcPct val="105000"/>
              </a:lnSpc>
              <a:buNone/>
            </a:pP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	if ( (</a:t>
            </a:r>
            <a:r>
              <a:rPr lang="en-US" altLang="he-IL" sz="18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pDir</a:t>
            </a: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= </a:t>
            </a:r>
            <a:r>
              <a:rPr lang="en-US" altLang="he-IL" sz="18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opendir</a:t>
            </a: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en-US" altLang="he-IL" sz="18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argv</a:t>
            </a: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[1])) == NULL)</a:t>
            </a:r>
          </a:p>
          <a:p>
            <a:pPr>
              <a:lnSpc>
                <a:spcPct val="105000"/>
              </a:lnSpc>
              <a:buNone/>
            </a:pP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		exit(1); </a:t>
            </a:r>
          </a:p>
          <a:p>
            <a:pPr>
              <a:lnSpc>
                <a:spcPct val="105000"/>
              </a:lnSpc>
              <a:buNone/>
            </a:pP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	// looping through the directory, printing the directory entry name</a:t>
            </a:r>
          </a:p>
          <a:p>
            <a:pPr>
              <a:lnSpc>
                <a:spcPct val="105000"/>
              </a:lnSpc>
              <a:buNone/>
            </a:pP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	while ( (</a:t>
            </a:r>
            <a:r>
              <a:rPr lang="en-US" altLang="he-IL" sz="18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pDirent</a:t>
            </a: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= </a:t>
            </a:r>
            <a:r>
              <a:rPr lang="en-US" altLang="he-IL" sz="18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readdir</a:t>
            </a: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en-US" altLang="he-IL" sz="18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pDir</a:t>
            </a: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 ) != NULL ) </a:t>
            </a:r>
          </a:p>
          <a:p>
            <a:pPr>
              <a:lnSpc>
                <a:spcPct val="105000"/>
              </a:lnSpc>
              <a:buNone/>
            </a:pP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		</a:t>
            </a:r>
            <a:r>
              <a:rPr lang="en-US" altLang="he-IL" sz="18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printf</a:t>
            </a: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 "%s\n", </a:t>
            </a:r>
            <a:r>
              <a:rPr lang="en-US" altLang="he-IL" sz="18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pDirent</a:t>
            </a: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-&gt;</a:t>
            </a:r>
            <a:r>
              <a:rPr lang="en-US" altLang="he-IL" sz="18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d_name</a:t>
            </a: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); </a:t>
            </a:r>
          </a:p>
          <a:p>
            <a:pPr>
              <a:lnSpc>
                <a:spcPct val="105000"/>
              </a:lnSpc>
              <a:buNone/>
            </a:pP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	</a:t>
            </a:r>
            <a:r>
              <a:rPr lang="en-US" altLang="he-IL" sz="18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closedir</a:t>
            </a: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 </a:t>
            </a:r>
            <a:r>
              <a:rPr lang="en-US" altLang="he-IL" sz="18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pDir</a:t>
            </a: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);</a:t>
            </a:r>
          </a:p>
          <a:p>
            <a:pPr>
              <a:lnSpc>
                <a:spcPct val="105000"/>
              </a:lnSpc>
              <a:buNone/>
            </a:pPr>
            <a:r>
              <a:rPr lang="en-US" altLang="he-IL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} 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E413AB08-8493-4B64-9FE3-E5B2D83271E1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4BC71373-8E47-4F12-9887-239C33CA378D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805FB72A-7207-4916-A16A-29C6F2899C70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05CD8F4F-BD8C-45FD-B4DF-CB2DB73F7030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143126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altLang="he-IL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דוגמא לסריקת תיקיה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00" y="1143000"/>
            <a:ext cx="7380000" cy="5349308"/>
          </a:xfrm>
          <a:prstGeom prst="rect">
            <a:avLst/>
          </a:prstGeom>
        </p:spPr>
      </p:pic>
      <p:sp>
        <p:nvSpPr>
          <p:cNvPr id="6" name="Rectangle 12">
            <a:extLst>
              <a:ext uri="{FF2B5EF4-FFF2-40B4-BE49-F238E27FC236}">
                <a16:creationId xmlns:a16="http://schemas.microsoft.com/office/drawing/2014/main" id="{980B9B30-B13E-4D9E-986C-1FDB11CD59A0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7FEB6E8B-27D2-4B57-B667-4F92D877DAD8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20D9C347-1987-4AA9-AC13-135AF393EF63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E5E91E3B-BCF9-4DED-83B6-009FBF3BE174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197669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altLang="he-IL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דוגמא לסריקת תיקיה - המשך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10" y="1176302"/>
            <a:ext cx="7380000" cy="5327720"/>
          </a:xfrm>
          <a:prstGeom prst="rect">
            <a:avLst/>
          </a:prstGeom>
        </p:spPr>
      </p:pic>
      <p:sp>
        <p:nvSpPr>
          <p:cNvPr id="6" name="Rectangle 12">
            <a:extLst>
              <a:ext uri="{FF2B5EF4-FFF2-40B4-BE49-F238E27FC236}">
                <a16:creationId xmlns:a16="http://schemas.microsoft.com/office/drawing/2014/main" id="{1DAC293B-BDFA-46DD-8248-7A325BE76AE2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F343D5AC-BAF2-4509-8CA4-31E3DF919B0B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8AF7606C-AA60-45AF-BBDD-61011A5D01E9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B2FC6261-ECD5-4169-B0B1-AB254E65E2BC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301461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altLang="he-IL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דוגמא למימוש </a:t>
            </a:r>
            <a:r>
              <a:rPr lang="en-US" altLang="he-IL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ls</a:t>
            </a:r>
            <a:endParaRPr lang="he-IL" altLang="he-IL" b="1" dirty="0">
              <a:solidFill>
                <a:srgbClr val="0070C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343025"/>
            <a:ext cx="7636190" cy="5184286"/>
          </a:xfrm>
          <a:prstGeom prst="rect">
            <a:avLst/>
          </a:prstGeom>
        </p:spPr>
      </p:pic>
      <p:sp>
        <p:nvSpPr>
          <p:cNvPr id="6" name="Rectangle 12">
            <a:extLst>
              <a:ext uri="{FF2B5EF4-FFF2-40B4-BE49-F238E27FC236}">
                <a16:creationId xmlns:a16="http://schemas.microsoft.com/office/drawing/2014/main" id="{1432D8C8-7CB2-4F50-A806-392892AACF26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EA9A5608-13D9-4802-B68B-CE8EBC2E0343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FC522B59-FADA-4A06-8722-EF98E7B902F5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AD0CDF40-5427-4860-B3C1-0D2B106CF507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913602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altLang="he-IL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דוגמא למימוש </a:t>
            </a:r>
            <a:r>
              <a:rPr lang="en-US" altLang="he-IL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- ls</a:t>
            </a:r>
            <a:r>
              <a:rPr lang="he-IL" altLang="he-IL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המשך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196" y="1981196"/>
            <a:ext cx="6746666" cy="3865715"/>
          </a:xfrm>
          <a:prstGeom prst="rect">
            <a:avLst/>
          </a:prstGeom>
        </p:spPr>
      </p:pic>
      <p:sp>
        <p:nvSpPr>
          <p:cNvPr id="6" name="Rectangle 12">
            <a:extLst>
              <a:ext uri="{FF2B5EF4-FFF2-40B4-BE49-F238E27FC236}">
                <a16:creationId xmlns:a16="http://schemas.microsoft.com/office/drawing/2014/main" id="{8E4965FE-055C-48AE-A73C-EEF9F520001F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35EE9832-229A-4EFD-BDFB-D1065E174F64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1E374FC5-AF2A-44C8-8E94-8BE5BF252335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4322778-315B-4E10-899D-EC70EE145024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395961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Read </a:t>
            </a:r>
            <a:r>
              <a:rPr lang="en-US" b="1" dirty="0" err="1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syscall</a:t>
            </a:r>
            <a:endParaRPr lang="en-US" b="1" dirty="0">
              <a:solidFill>
                <a:srgbClr val="0070C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 read(int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fd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 void* buff,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size_t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nbytes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);</a:t>
            </a:r>
          </a:p>
          <a:p>
            <a:pPr marL="0" indent="0" algn="r" rtl="1">
              <a:buClr>
                <a:srgbClr val="0070C0"/>
              </a:buClr>
              <a:buNone/>
            </a:pPr>
            <a:endParaRPr lang="he-IL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קריאת הנתונים מתבצעת עד שמספר הבתים המבוקשים נקראו, או עד שהגענו לסוף הקובץ.</a:t>
            </a:r>
          </a:p>
          <a:p>
            <a:pPr algn="r" rtl="1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he-IL" sz="2400" u="sng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הקריאה הבאה תמשיך מהנקודה שהקודמת הפסיקה.</a:t>
            </a:r>
          </a:p>
          <a:p>
            <a:pPr algn="r" rtl="1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ערך מוחזר:</a:t>
            </a:r>
          </a:p>
          <a:p>
            <a:pPr lvl="1" algn="r" rtl="1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he-IL" sz="20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1- : שגיאה</a:t>
            </a:r>
          </a:p>
          <a:p>
            <a:pPr lvl="1" algn="r" rtl="1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he-IL" sz="20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0 : אם ביקשנו להתחיל לקרוא מסוף הקובץ (ללא שגיאה)</a:t>
            </a:r>
          </a:p>
          <a:p>
            <a:pPr lvl="1" algn="r" rtl="1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he-IL" sz="20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מספר חיובי: כמות הבתים שנקראו בפועל</a:t>
            </a:r>
            <a:endParaRPr lang="en-US" sz="20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6FD9E60-B869-418C-80C1-4196EF92216D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E138CCFB-184A-4C5A-9D18-95CE9951A79D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95E601C8-32CD-4D4E-92F9-232E410613CE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BA63D9E9-B3ED-4D6D-996A-124A40A64CC2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048F7C74-A110-4E06-986D-62A7ABE1E1DB}"/>
              </a:ext>
            </a:extLst>
          </p:cNvPr>
          <p:cNvSpPr/>
          <p:nvPr/>
        </p:nvSpPr>
        <p:spPr>
          <a:xfrm>
            <a:off x="457200" y="1342617"/>
            <a:ext cx="5486400" cy="486183"/>
          </a:xfrm>
          <a:prstGeom prst="roundRect">
            <a:avLst/>
          </a:prstGeom>
          <a:noFill/>
          <a:ln w="38100">
            <a:solidFill>
              <a:srgbClr val="2CD2C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Write </a:t>
            </a:r>
            <a:r>
              <a:rPr lang="en-US" b="1" dirty="0" err="1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syscall</a:t>
            </a:r>
            <a:endParaRPr lang="en-US" b="1" dirty="0">
              <a:solidFill>
                <a:srgbClr val="0070C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3025"/>
            <a:ext cx="8229600" cy="3838575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 write(int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fd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void* buff,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size_t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nbytes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);</a:t>
            </a:r>
          </a:p>
          <a:p>
            <a:pPr marL="0" indent="0" algn="r" rtl="1">
              <a:buClr>
                <a:srgbClr val="0070C0"/>
              </a:buClr>
              <a:buNone/>
            </a:pPr>
            <a:endParaRPr lang="he-IL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כתיבת נתונים לקובץ המוצבע ע"י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fd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</a:p>
          <a:p>
            <a:pPr algn="r" rtl="1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he-IL" sz="2400" u="sng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מיקום הכתיבה הבאה לקובץ תמשיך מיד לאחר המיקום של הכתיבה הקודמת.</a:t>
            </a:r>
          </a:p>
          <a:p>
            <a:pPr algn="r" rtl="1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אם הקובץ נפתח עם הדגל 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O_APPEND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המידע ייכתב בסוף הקובץ.</a:t>
            </a:r>
          </a:p>
          <a:p>
            <a:pPr algn="r" rtl="1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ערך מוחזר:</a:t>
            </a:r>
          </a:p>
          <a:p>
            <a:pPr lvl="1" algn="r" rtl="1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he-IL" sz="20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1- : שגיאה</a:t>
            </a:r>
          </a:p>
          <a:p>
            <a:pPr lvl="1" algn="r" rtl="1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he-IL" sz="20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מספר אי-שלילי: כמות הבתים שנכתבו בפועל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09CB600-F454-4EA3-8328-EAB3E7D34457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436CB3B6-1C13-4E64-B53A-672C95DCA95A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37D5ECDC-9246-4658-8582-A83556A80B59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5698B948-D1CB-489B-A3DF-DA85621F05DA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1" name="מלבן: פינות מעוגלות 10">
            <a:extLst>
              <a:ext uri="{FF2B5EF4-FFF2-40B4-BE49-F238E27FC236}">
                <a16:creationId xmlns:a16="http://schemas.microsoft.com/office/drawing/2014/main" id="{16223B48-9330-46B4-B750-F9098D6D69FF}"/>
              </a:ext>
            </a:extLst>
          </p:cNvPr>
          <p:cNvSpPr/>
          <p:nvPr/>
        </p:nvSpPr>
        <p:spPr>
          <a:xfrm>
            <a:off x="457200" y="1405217"/>
            <a:ext cx="5562600" cy="423583"/>
          </a:xfrm>
          <a:prstGeom prst="roundRect">
            <a:avLst/>
          </a:prstGeom>
          <a:noFill/>
          <a:ln w="38100">
            <a:solidFill>
              <a:srgbClr val="2CD2C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Close </a:t>
            </a:r>
            <a:r>
              <a:rPr lang="en-US" b="1" dirty="0" err="1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syscall</a:t>
            </a:r>
            <a:endParaRPr lang="en-US" b="1" dirty="0">
              <a:solidFill>
                <a:srgbClr val="0070C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62392"/>
            <a:ext cx="8229600" cy="513715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close(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fd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);</a:t>
            </a:r>
          </a:p>
          <a:p>
            <a:pPr marL="0" indent="0" algn="r" rtl="1">
              <a:buNone/>
            </a:pPr>
            <a:endParaRPr lang="he-IL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עקרונית כל קובץ שנשאר פתוח כאשר התהליך שפתח אותו מסתיים יסגר ע"י מערכת ההפעלה.</a:t>
            </a:r>
          </a:p>
          <a:p>
            <a:pPr algn="r" rtl="1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סגירת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fd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זה בעצם עדכון ל-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open file description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שיש לו פחות מצביע אחד.</a:t>
            </a:r>
          </a:p>
          <a:p>
            <a:pPr algn="r" rtl="1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כאשר המונה של מספר המצביעים של ה-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ofd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מגיע לאפס אז ה-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ofd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גם כן משתחרר.</a:t>
            </a:r>
          </a:p>
          <a:p>
            <a:pPr algn="r" rtl="1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ערך מוחזר:</a:t>
            </a:r>
          </a:p>
          <a:p>
            <a:pPr lvl="1" algn="r" rtl="1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he-IL" sz="20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0: הצלחה</a:t>
            </a:r>
          </a:p>
          <a:p>
            <a:pPr lvl="1" algn="r" rtl="1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-1</a:t>
            </a:r>
            <a:r>
              <a:rPr lang="he-IL" sz="20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: כישלון</a:t>
            </a:r>
          </a:p>
          <a:p>
            <a:pPr algn="r" rtl="1"/>
            <a:endParaRPr lang="en-US" sz="2400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8FB2B2C-B20E-4F01-ABFF-DA33EBF2E1CE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6CF3FE36-27D8-47DB-A692-9BEEDB0D40C2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E24E4C33-7114-45DD-99EB-5DED452FE620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9C2EB8CC-CCD3-4FDB-BD4C-0E752B354BA5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44219CF5-D48E-4701-9BF5-E4AAC863D085}"/>
              </a:ext>
            </a:extLst>
          </p:cNvPr>
          <p:cNvSpPr/>
          <p:nvPr/>
        </p:nvSpPr>
        <p:spPr>
          <a:xfrm>
            <a:off x="457200" y="1405217"/>
            <a:ext cx="2209800" cy="423583"/>
          </a:xfrm>
          <a:prstGeom prst="roundRect">
            <a:avLst/>
          </a:prstGeom>
          <a:noFill/>
          <a:ln w="38100">
            <a:solidFill>
              <a:srgbClr val="2CD2C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</a:t>
            </a:r>
            <a:r>
              <a:rPr lang="he-IL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5</a:t>
            </a:r>
            <a:r>
              <a:rPr lang="en-US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_2.c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C36C1109-EDC5-46BB-90BC-A2FA7207BDB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47900" y="1172029"/>
            <a:ext cx="4572000" cy="5356151"/>
          </a:xfrm>
          <a:prstGeom prst="rect">
            <a:avLst/>
          </a:prstGeom>
        </p:spPr>
      </p:pic>
      <p:sp>
        <p:nvSpPr>
          <p:cNvPr id="6" name="Rectangle 12">
            <a:extLst>
              <a:ext uri="{FF2B5EF4-FFF2-40B4-BE49-F238E27FC236}">
                <a16:creationId xmlns:a16="http://schemas.microsoft.com/office/drawing/2014/main" id="{ABEB956F-0223-437F-BA7A-441F01996035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B52BD556-8E19-4571-AE03-51D8E170BE7B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8DD38A0E-5428-4134-A9D5-314457792E53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074238C1-F4FE-4B16-A4BC-132FC183E07B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dup</a:t>
            </a:r>
            <a:r>
              <a:rPr lang="he-IL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משפחת </a:t>
            </a:r>
            <a:endParaRPr lang="en-US" b="1" dirty="0">
              <a:solidFill>
                <a:srgbClr val="0070C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#include &lt;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unistd.h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&gt;</a:t>
            </a:r>
          </a:p>
          <a:p>
            <a:pPr>
              <a:buNone/>
            </a:pP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dup(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oldfd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);</a:t>
            </a:r>
          </a:p>
          <a:p>
            <a:pPr>
              <a:buNone/>
            </a:pP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dup2(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oldfd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newfd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);</a:t>
            </a:r>
          </a:p>
          <a:p>
            <a:pPr algn="r" rtl="1">
              <a:buNone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ה-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syscalls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הללו יוצרות עוד עותק של 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oldfd</a:t>
            </a:r>
            <a:endParaRPr lang="he-IL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>
              <a:buNone/>
            </a:pP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dup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- מחפשת ברשימת ה-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fd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את המקום הפנוי הראשון ומעתיקה אליו את ה-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oldfd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</a:p>
          <a:p>
            <a:pPr algn="r" rtl="1">
              <a:buNone/>
            </a:pP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dup2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- סוגרת את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newfd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ומעתיקה במקומו את 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oldfd</a:t>
            </a:r>
            <a:r>
              <a:rPr lang="he-IL" sz="16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(כלומר גורמת ל-</a:t>
            </a:r>
            <a:r>
              <a:rPr lang="en-US" sz="16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newfd</a:t>
            </a:r>
            <a:r>
              <a:rPr lang="he-IL" sz="16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להצביע להיכן ש-</a:t>
            </a:r>
            <a:r>
              <a:rPr lang="en-US" sz="16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oldfd</a:t>
            </a:r>
            <a:r>
              <a:rPr lang="he-IL" sz="16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הצביע)</a:t>
            </a:r>
            <a:endParaRPr lang="en-US" sz="16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>
              <a:buNone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ערך חוזר:</a:t>
            </a:r>
          </a:p>
          <a:p>
            <a:pPr algn="r" rtl="1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כשלון: 1-</a:t>
            </a:r>
          </a:p>
          <a:p>
            <a:pPr algn="r" rtl="1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הצלחה: מספר ה-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fd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שהוחלף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newfd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  <a:endParaRPr lang="en-US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DB31347-35D1-4F96-B554-1B8A104124DC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95CBF0F9-F393-4F5D-B49C-7DDA7021515C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8DE3CA07-BCD3-4798-8089-B60B23014D96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E0C143C5-2BB0-48EB-B60D-37AF2FF786E5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FC5A8823-580B-4382-AD8D-3E8532C72067}"/>
              </a:ext>
            </a:extLst>
          </p:cNvPr>
          <p:cNvSpPr/>
          <p:nvPr/>
        </p:nvSpPr>
        <p:spPr>
          <a:xfrm>
            <a:off x="457200" y="1405217"/>
            <a:ext cx="3962400" cy="1261783"/>
          </a:xfrm>
          <a:prstGeom prst="roundRect">
            <a:avLst/>
          </a:prstGeom>
          <a:noFill/>
          <a:ln w="38100">
            <a:solidFill>
              <a:srgbClr val="2CD2C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dup flow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16764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File descriptors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733800" y="1600200"/>
            <a:ext cx="1219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33800" y="2819400"/>
            <a:ext cx="1219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endCxn id="6" idx="1"/>
          </p:cNvCxnSpPr>
          <p:nvPr/>
        </p:nvCxnSpPr>
        <p:spPr>
          <a:xfrm flipV="1">
            <a:off x="2362200" y="2019300"/>
            <a:ext cx="1371600" cy="800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endCxn id="7" idx="1"/>
          </p:cNvCxnSpPr>
          <p:nvPr/>
        </p:nvCxnSpPr>
        <p:spPr>
          <a:xfrm>
            <a:off x="2362200" y="3124200"/>
            <a:ext cx="1371600" cy="1143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4201160"/>
          <a:ext cx="16764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File descriptors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733800" y="4201160"/>
            <a:ext cx="1219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733800" y="5420360"/>
            <a:ext cx="1219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endCxn id="13" idx="1"/>
          </p:cNvCxnSpPr>
          <p:nvPr/>
        </p:nvCxnSpPr>
        <p:spPr>
          <a:xfrm flipV="1">
            <a:off x="2362200" y="4620260"/>
            <a:ext cx="1371600" cy="800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4" idx="1"/>
          </p:cNvCxnSpPr>
          <p:nvPr/>
        </p:nvCxnSpPr>
        <p:spPr>
          <a:xfrm>
            <a:off x="2362200" y="5725160"/>
            <a:ext cx="1371600" cy="1143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2362200" y="5029200"/>
            <a:ext cx="1371600" cy="685800"/>
          </a:xfrm>
          <a:prstGeom prst="straightConnector1">
            <a:avLst/>
          </a:prstGeom>
          <a:ln w="38100">
            <a:solidFill>
              <a:srgbClr val="FD8A2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ight Brace 18"/>
          <p:cNvSpPr/>
          <p:nvPr/>
        </p:nvSpPr>
        <p:spPr>
          <a:xfrm>
            <a:off x="5029200" y="1600200"/>
            <a:ext cx="381000" cy="2057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Brace 19"/>
          <p:cNvSpPr/>
          <p:nvPr/>
        </p:nvSpPr>
        <p:spPr>
          <a:xfrm>
            <a:off x="5029200" y="4191000"/>
            <a:ext cx="381000" cy="2057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562600" y="2325469"/>
            <a:ext cx="14478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Open file descriptions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2600" y="4953000"/>
            <a:ext cx="14478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Open file descriptions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67400" y="3295650"/>
            <a:ext cx="2590800" cy="923330"/>
          </a:xfrm>
          <a:prstGeom prst="rect">
            <a:avLst/>
          </a:prstGeom>
          <a:solidFill>
            <a:srgbClr val="FD8A2B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chemeClr val="bg1"/>
                </a:solidFill>
              </a:rPr>
              <a:t>Calling dup(2);</a:t>
            </a:r>
          </a:p>
          <a:p>
            <a:pPr algn="ctr"/>
            <a:endParaRPr lang="en-US" dirty="0"/>
          </a:p>
        </p:txBody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id="{6907C856-EF7C-46EB-875A-8787D01D34B7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B973D608-46E9-4891-84B8-DDC0FB4190BC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89AFF2D7-FAFB-4A61-BFB0-E278DFF4B1C9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28" name="Rectangle 12">
            <a:extLst>
              <a:ext uri="{FF2B5EF4-FFF2-40B4-BE49-F238E27FC236}">
                <a16:creationId xmlns:a16="http://schemas.microsoft.com/office/drawing/2014/main" id="{1F58FB98-8293-48D8-B1C2-B191C5369EDC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3" grpId="0" animBg="1"/>
      <p:bldP spid="14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dup2 flow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16764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File descriptors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733800" y="1600200"/>
            <a:ext cx="1219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33800" y="2819400"/>
            <a:ext cx="1219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endCxn id="6" idx="1"/>
          </p:cNvCxnSpPr>
          <p:nvPr/>
        </p:nvCxnSpPr>
        <p:spPr>
          <a:xfrm flipV="1">
            <a:off x="2362200" y="2019300"/>
            <a:ext cx="1371600" cy="800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endCxn id="7" idx="1"/>
          </p:cNvCxnSpPr>
          <p:nvPr/>
        </p:nvCxnSpPr>
        <p:spPr>
          <a:xfrm>
            <a:off x="2362200" y="3124200"/>
            <a:ext cx="1371600" cy="1143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4201160"/>
          <a:ext cx="16764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File descriptors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733800" y="4201160"/>
            <a:ext cx="1219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733800" y="5420360"/>
            <a:ext cx="1219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endCxn id="13" idx="1"/>
          </p:cNvCxnSpPr>
          <p:nvPr/>
        </p:nvCxnSpPr>
        <p:spPr>
          <a:xfrm flipV="1">
            <a:off x="2362200" y="4620260"/>
            <a:ext cx="1371600" cy="800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4" idx="1"/>
          </p:cNvCxnSpPr>
          <p:nvPr/>
        </p:nvCxnSpPr>
        <p:spPr>
          <a:xfrm>
            <a:off x="2362200" y="5725160"/>
            <a:ext cx="1371600" cy="1143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</p:cNvCxnSpPr>
          <p:nvPr/>
        </p:nvCxnSpPr>
        <p:spPr>
          <a:xfrm>
            <a:off x="2362200" y="5410884"/>
            <a:ext cx="1371600" cy="314276"/>
          </a:xfrm>
          <a:prstGeom prst="straightConnector1">
            <a:avLst/>
          </a:prstGeom>
          <a:ln w="38100">
            <a:solidFill>
              <a:srgbClr val="FD8A2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ight Brace 18"/>
          <p:cNvSpPr/>
          <p:nvPr/>
        </p:nvSpPr>
        <p:spPr>
          <a:xfrm>
            <a:off x="5029200" y="1600200"/>
            <a:ext cx="381000" cy="2057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Brace 19"/>
          <p:cNvSpPr/>
          <p:nvPr/>
        </p:nvSpPr>
        <p:spPr>
          <a:xfrm>
            <a:off x="5029200" y="4191000"/>
            <a:ext cx="381000" cy="2057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562600" y="2325469"/>
            <a:ext cx="14478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Open file descriptions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2600" y="4953000"/>
            <a:ext cx="14478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Open file descriptions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67400" y="3295650"/>
            <a:ext cx="2590800" cy="923330"/>
          </a:xfrm>
          <a:prstGeom prst="rect">
            <a:avLst/>
          </a:prstGeom>
          <a:solidFill>
            <a:srgbClr val="FD8A2B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chemeClr val="bg1"/>
                </a:solidFill>
              </a:rPr>
              <a:t>Calling dup2(2,1);</a:t>
            </a:r>
          </a:p>
          <a:p>
            <a:pPr algn="ctr"/>
            <a:endParaRPr lang="en-US" dirty="0"/>
          </a:p>
        </p:txBody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id="{6907C856-EF7C-46EB-875A-8787D01D34B7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B973D608-46E9-4891-84B8-DDC0FB4190BC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89AFF2D7-FAFB-4A61-BFB0-E278DFF4B1C9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28" name="Rectangle 12">
            <a:extLst>
              <a:ext uri="{FF2B5EF4-FFF2-40B4-BE49-F238E27FC236}">
                <a16:creationId xmlns:a16="http://schemas.microsoft.com/office/drawing/2014/main" id="{1F58FB98-8293-48D8-B1C2-B191C5369EDC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1409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3" grpId="0" animBg="1"/>
      <p:bldP spid="14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I/O Redirection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הפניית האינפוט הסטנדרטי (מהמקלדת/למסך) לקבצים/מקבצים.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ב-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shell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זה נעשה ע"י "&lt;" ו "&gt;". לדוגמא: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he-IL" sz="20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שליחת </a:t>
            </a:r>
            <a:r>
              <a:rPr lang="en-US" sz="20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STDOUT</a:t>
            </a:r>
            <a:r>
              <a:rPr lang="he-IL" sz="20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לקובץ: </a:t>
            </a:r>
            <a:r>
              <a:rPr lang="en-US" sz="20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ls</a:t>
            </a:r>
            <a:r>
              <a:rPr lang="en-US" sz="20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&gt; file.txt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he-IL" sz="20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קבלת מידע מקובץ:  </a:t>
            </a:r>
            <a:r>
              <a:rPr lang="en-US" sz="20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./</a:t>
            </a:r>
            <a:r>
              <a:rPr lang="en-US" sz="20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a.out</a:t>
            </a:r>
            <a:r>
              <a:rPr lang="en-US" sz="20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&lt; conf.txt</a:t>
            </a:r>
          </a:p>
          <a:p>
            <a:pPr lvl="1" algn="r" rtl="1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איך נעזר ב-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dup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כדי לבצע 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i/o redirection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?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T5_3.c</a:t>
            </a:r>
            <a:endParaRPr lang="en-US" sz="20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91FBE79-5C8F-42E9-B88E-1C02A71B4126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0CD88373-0C6D-49A5-8044-211C0FAC4758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C9AF8D97-5BAE-4DBB-A1F1-B613FBBC808F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0FAD4D04-65A2-47DC-9D9F-49740C9B969F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BA06D-FAE1-4343-A59D-9B81D9826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</a:t>
            </a:r>
            <a:r>
              <a:rPr lang="he-IL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5</a:t>
            </a:r>
            <a:r>
              <a:rPr lang="en-US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_</a:t>
            </a:r>
            <a:r>
              <a:rPr lang="he-IL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3</a:t>
            </a:r>
            <a:r>
              <a:rPr lang="en-US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D38BC-45EE-4269-8F4B-AB9CD5B50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1633" y="1261205"/>
            <a:ext cx="6209876" cy="5362575"/>
          </a:xfrm>
        </p:spPr>
        <p:txBody>
          <a:bodyPr/>
          <a:lstStyle/>
          <a:p>
            <a:pPr marL="0" indent="0">
              <a:buNone/>
            </a:pPr>
            <a:r>
              <a:rPr lang="en-US" sz="1200" dirty="0"/>
              <a:t>#include &lt;</a:t>
            </a:r>
            <a:r>
              <a:rPr lang="en-US" sz="1200" dirty="0" err="1"/>
              <a:t>stdlib.h</a:t>
            </a:r>
            <a:r>
              <a:rPr lang="en-US" sz="1200" dirty="0"/>
              <a:t>&gt; </a:t>
            </a:r>
          </a:p>
          <a:p>
            <a:pPr marL="0" indent="0">
              <a:buNone/>
            </a:pPr>
            <a:r>
              <a:rPr lang="en-US" sz="1200" dirty="0"/>
              <a:t>#include &lt;</a:t>
            </a:r>
            <a:r>
              <a:rPr lang="en-US" sz="1200" dirty="0" err="1"/>
              <a:t>stdio.h</a:t>
            </a:r>
            <a:r>
              <a:rPr lang="en-US" sz="1200" dirty="0"/>
              <a:t>&gt; </a:t>
            </a:r>
          </a:p>
          <a:p>
            <a:pPr marL="0" indent="0">
              <a:buNone/>
            </a:pPr>
            <a:r>
              <a:rPr lang="en-US" sz="1200" dirty="0"/>
              <a:t>#include &lt;</a:t>
            </a:r>
            <a:r>
              <a:rPr lang="en-US" sz="1200" dirty="0" err="1"/>
              <a:t>fcntl.h</a:t>
            </a:r>
            <a:r>
              <a:rPr lang="en-US" sz="1200" dirty="0"/>
              <a:t>&gt; </a:t>
            </a:r>
          </a:p>
          <a:p>
            <a:pPr marL="0" indent="0">
              <a:buNone/>
            </a:pPr>
            <a:r>
              <a:rPr lang="en-US" sz="1200" dirty="0" err="1"/>
              <a:t>int</a:t>
            </a:r>
            <a:r>
              <a:rPr lang="en-US" sz="1200" dirty="0"/>
              <a:t> main(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argc</a:t>
            </a:r>
            <a:r>
              <a:rPr lang="en-US" sz="1200" dirty="0"/>
              <a:t>, char **</a:t>
            </a:r>
            <a:r>
              <a:rPr lang="en-US" sz="1200" dirty="0" err="1"/>
              <a:t>argv</a:t>
            </a:r>
            <a:r>
              <a:rPr lang="en-US" sz="1200" dirty="0"/>
              <a:t>) </a:t>
            </a:r>
          </a:p>
          <a:p>
            <a:pPr marL="0" indent="0">
              <a:buNone/>
            </a:pPr>
            <a:r>
              <a:rPr lang="en-US" sz="1200" dirty="0"/>
              <a:t>{; </a:t>
            </a:r>
          </a:p>
          <a:p>
            <a:pPr marL="0" indent="0">
              <a:buNone/>
            </a:pPr>
            <a:r>
              <a:rPr lang="en-US" sz="1200" dirty="0"/>
              <a:t>	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newfd</a:t>
            </a:r>
            <a:r>
              <a:rPr lang="en-US" sz="1200" dirty="0"/>
              <a:t>; /* new file descriptor */ </a:t>
            </a:r>
          </a:p>
          <a:p>
            <a:pPr marL="0" indent="0">
              <a:buNone/>
            </a:pPr>
            <a:r>
              <a:rPr lang="en-US" sz="1200" dirty="0"/>
              <a:t>	if (</a:t>
            </a:r>
            <a:r>
              <a:rPr lang="en-US" sz="1200" dirty="0" err="1"/>
              <a:t>argc</a:t>
            </a:r>
            <a:r>
              <a:rPr lang="en-US" sz="1200" dirty="0"/>
              <a:t> != 2) </a:t>
            </a:r>
          </a:p>
          <a:p>
            <a:pPr marL="0" indent="0">
              <a:buNone/>
            </a:pPr>
            <a:r>
              <a:rPr lang="en-US" sz="1200" dirty="0"/>
              <a:t>	{ </a:t>
            </a:r>
          </a:p>
          <a:p>
            <a:pPr marL="0" indent="0">
              <a:buNone/>
            </a:pPr>
            <a:r>
              <a:rPr lang="en-US" sz="1200" dirty="0"/>
              <a:t>		</a:t>
            </a:r>
            <a:r>
              <a:rPr lang="en-US" sz="1200" dirty="0" err="1"/>
              <a:t>fprintf</a:t>
            </a:r>
            <a:r>
              <a:rPr lang="en-US" sz="1200" dirty="0"/>
              <a:t>(stderr, "usage: %s </a:t>
            </a:r>
            <a:r>
              <a:rPr lang="en-US" sz="1200" dirty="0" err="1"/>
              <a:t>output_file</a:t>
            </a:r>
            <a:r>
              <a:rPr lang="en-US" sz="1200" dirty="0"/>
              <a:t>\n", </a:t>
            </a:r>
            <a:r>
              <a:rPr lang="en-US" sz="1200" dirty="0" err="1"/>
              <a:t>argv</a:t>
            </a:r>
            <a:r>
              <a:rPr lang="en-US" sz="1200" dirty="0"/>
              <a:t>[0]); </a:t>
            </a:r>
          </a:p>
          <a:p>
            <a:pPr marL="0" indent="0">
              <a:buNone/>
            </a:pPr>
            <a:r>
              <a:rPr lang="en-US" sz="1200" dirty="0"/>
              <a:t>		exit(1); </a:t>
            </a:r>
          </a:p>
          <a:p>
            <a:pPr marL="0" indent="0">
              <a:buNone/>
            </a:pPr>
            <a:r>
              <a:rPr lang="en-US" sz="1200" dirty="0"/>
              <a:t>	} </a:t>
            </a:r>
          </a:p>
          <a:p>
            <a:pPr marL="0" indent="0">
              <a:buNone/>
            </a:pPr>
            <a:r>
              <a:rPr lang="en-US" sz="1200" dirty="0"/>
              <a:t>	if ((</a:t>
            </a:r>
            <a:r>
              <a:rPr lang="en-US" sz="1200" dirty="0" err="1"/>
              <a:t>newfd</a:t>
            </a:r>
            <a:r>
              <a:rPr lang="en-US" sz="1200" dirty="0"/>
              <a:t> = open(</a:t>
            </a:r>
            <a:r>
              <a:rPr lang="en-US" sz="1200" dirty="0" err="1"/>
              <a:t>argv</a:t>
            </a:r>
            <a:r>
              <a:rPr lang="en-US" sz="1200" dirty="0"/>
              <a:t>[1], O_CREAT|O_TRUNC|O_WRONLY, 0644)) &lt; 0) </a:t>
            </a:r>
          </a:p>
          <a:p>
            <a:pPr marL="0" indent="0">
              <a:buNone/>
            </a:pPr>
            <a:r>
              <a:rPr lang="en-US" sz="1200" dirty="0"/>
              <a:t>	{ </a:t>
            </a:r>
          </a:p>
          <a:p>
            <a:pPr marL="0" indent="0">
              <a:buNone/>
            </a:pPr>
            <a:r>
              <a:rPr lang="en-US" sz="1200" dirty="0"/>
              <a:t>		</a:t>
            </a:r>
            <a:r>
              <a:rPr lang="en-US" sz="1200" dirty="0" err="1"/>
              <a:t>perror</a:t>
            </a:r>
            <a:r>
              <a:rPr lang="en-US" sz="1200" dirty="0"/>
              <a:t>(</a:t>
            </a:r>
            <a:r>
              <a:rPr lang="en-US" sz="1200" dirty="0" err="1"/>
              <a:t>argv</a:t>
            </a:r>
            <a:r>
              <a:rPr lang="en-US" sz="1200" dirty="0"/>
              <a:t>[1]); /* open failed */ </a:t>
            </a:r>
          </a:p>
          <a:p>
            <a:pPr marL="0" indent="0">
              <a:buNone/>
            </a:pPr>
            <a:r>
              <a:rPr lang="en-US" sz="1200" dirty="0"/>
              <a:t>		exit(1); </a:t>
            </a:r>
          </a:p>
          <a:p>
            <a:pPr marL="0" indent="0">
              <a:buNone/>
            </a:pPr>
            <a:r>
              <a:rPr lang="en-US" sz="1200" dirty="0"/>
              <a:t>	} </a:t>
            </a:r>
          </a:p>
          <a:p>
            <a:pPr marL="0" indent="0">
              <a:buNone/>
            </a:pPr>
            <a:r>
              <a:rPr lang="en-US" sz="1200" dirty="0"/>
              <a:t>	</a:t>
            </a:r>
            <a:r>
              <a:rPr lang="en-US" sz="1200" dirty="0" err="1"/>
              <a:t>printf</a:t>
            </a:r>
            <a:r>
              <a:rPr lang="en-US" sz="1200" dirty="0"/>
              <a:t>("This goes to the standard output.\n"); </a:t>
            </a:r>
          </a:p>
          <a:p>
            <a:pPr marL="0" indent="0">
              <a:buNone/>
            </a:pPr>
            <a:r>
              <a:rPr lang="en-US" sz="1200" dirty="0"/>
              <a:t>	</a:t>
            </a:r>
            <a:r>
              <a:rPr lang="en-US" sz="1200" dirty="0" err="1"/>
              <a:t>printf</a:t>
            </a:r>
            <a:r>
              <a:rPr lang="en-US" sz="1200" dirty="0"/>
              <a:t>("Now the standard output will go to \"%s\".\n", </a:t>
            </a:r>
            <a:r>
              <a:rPr lang="en-US" sz="1200" dirty="0" err="1"/>
              <a:t>argv</a:t>
            </a:r>
            <a:r>
              <a:rPr lang="en-US" sz="1200" dirty="0"/>
              <a:t>[1]); </a:t>
            </a:r>
          </a:p>
          <a:p>
            <a:pPr marL="0" indent="0">
              <a:buNone/>
            </a:pPr>
            <a:r>
              <a:rPr lang="en-US" sz="1200" dirty="0"/>
              <a:t>	</a:t>
            </a:r>
            <a:r>
              <a:rPr lang="en-US" sz="1200" b="1" dirty="0"/>
              <a:t>dup2(</a:t>
            </a:r>
            <a:r>
              <a:rPr lang="en-US" sz="1200" b="1" dirty="0" err="1"/>
              <a:t>newfd</a:t>
            </a:r>
            <a:r>
              <a:rPr lang="en-US" sz="1200" b="1" dirty="0"/>
              <a:t>, 1); </a:t>
            </a:r>
          </a:p>
          <a:p>
            <a:pPr marL="0" indent="0">
              <a:buNone/>
            </a:pPr>
            <a:r>
              <a:rPr lang="en-US" sz="1200" dirty="0"/>
              <a:t>	</a:t>
            </a:r>
            <a:r>
              <a:rPr lang="en-US" sz="1200" dirty="0" err="1"/>
              <a:t>printf</a:t>
            </a:r>
            <a:r>
              <a:rPr lang="en-US" sz="1200" dirty="0"/>
              <a:t>("This goes to the file.\n"); </a:t>
            </a:r>
          </a:p>
          <a:p>
            <a:pPr marL="0" indent="0">
              <a:buNone/>
            </a:pPr>
            <a:r>
              <a:rPr lang="en-US" sz="1200" dirty="0"/>
              <a:t>	exit(0); </a:t>
            </a:r>
          </a:p>
          <a:p>
            <a:pPr marL="0" indent="0">
              <a:buNone/>
            </a:pPr>
            <a:r>
              <a:rPr lang="en-US" sz="1200" dirty="0"/>
              <a:t>}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3A0BE18-AA19-47FB-A5BF-6ECB57D5C9B2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4956B26-AC03-4F41-8790-72BBA7FDC58D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51EB8E5E-C4F1-4C0F-A6F3-6251D55CA39D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2FC49293-2808-48BF-97C4-0E3C52B55E7F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8311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BA06D-FAE1-4343-A59D-9B81D9826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דוגמא נוספת</a:t>
            </a:r>
            <a:endParaRPr lang="en-US" b="1" dirty="0">
              <a:solidFill>
                <a:srgbClr val="0070C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1004888" y="1219200"/>
            <a:ext cx="7467600" cy="5318125"/>
            <a:chOff x="1219200" y="1600200"/>
            <a:chExt cx="6105525" cy="4800600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9200" y="2409825"/>
              <a:ext cx="6105525" cy="3990975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4"/>
            <a:srcRect r="6570"/>
            <a:stretch/>
          </p:blipFill>
          <p:spPr>
            <a:xfrm>
              <a:off x="1219200" y="1600200"/>
              <a:ext cx="6096000" cy="876300"/>
            </a:xfrm>
            <a:prstGeom prst="rect">
              <a:avLst/>
            </a:prstGeom>
          </p:spPr>
        </p:pic>
      </p:grpSp>
      <p:sp>
        <p:nvSpPr>
          <p:cNvPr id="10" name="Rectangle 12">
            <a:extLst>
              <a:ext uri="{FF2B5EF4-FFF2-40B4-BE49-F238E27FC236}">
                <a16:creationId xmlns:a16="http://schemas.microsoft.com/office/drawing/2014/main" id="{0F21C53C-64A6-41C7-8F25-082B4D4AF2FE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A9A6EB78-934E-415D-A394-33BD0B21627B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A69F5C7F-ABB1-46A2-9561-7A0BB4069299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00AB9FA4-44B5-4D62-92E9-9958CE94E045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1619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Random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143000"/>
            <a:ext cx="8229600" cy="5137150"/>
          </a:xfrm>
        </p:spPr>
        <p:txBody>
          <a:bodyPr/>
          <a:lstStyle/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#include &lt;sys/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types.h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&gt;</a:t>
            </a:r>
          </a:p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#include &lt;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unistd.h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&gt; </a:t>
            </a:r>
          </a:p>
          <a:p>
            <a:pPr>
              <a:buNone/>
            </a:pP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off_t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lseek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fd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off_t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offset,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whence);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כדי להגיע למקום מסוים בקובץ יש להיעזר ב-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syscall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lseek</a:t>
            </a:r>
            <a:endParaRPr lang="en-US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whence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יכול להיות</a:t>
            </a:r>
            <a:r>
              <a:rPr lang="he-IL" sz="2400" i="1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: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SEEK_SET</a:t>
            </a:r>
            <a:r>
              <a:rPr lang="he-IL" sz="2000" b="1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– מתחילת הקובץ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SEEK_CUR</a:t>
            </a:r>
            <a:r>
              <a:rPr lang="he-IL" sz="2000" b="1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– מהמיקום הנוכחי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SEEK_END</a:t>
            </a:r>
            <a:r>
              <a:rPr lang="he-IL" sz="2000" b="1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– מסוף הקובץ</a:t>
            </a:r>
          </a:p>
          <a:p>
            <a:pPr lvl="1" algn="r" rtl="1"/>
            <a:endParaRPr lang="en-US" sz="2400" b="1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457200" lvl="1" indent="0" algn="r" rtl="1">
              <a:buNone/>
            </a:pPr>
            <a:r>
              <a:rPr lang="he-IL" sz="16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ערך החזרה:</a:t>
            </a:r>
          </a:p>
          <a:p>
            <a:pPr lvl="1" algn="r" rtl="1"/>
            <a:r>
              <a:rPr lang="he-IL" sz="16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במקרה של כשלון: </a:t>
            </a:r>
            <a:r>
              <a:rPr lang="en-US" sz="16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-1</a:t>
            </a:r>
            <a:r>
              <a:rPr lang="he-IL" sz="16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</a:p>
          <a:p>
            <a:pPr lvl="1" algn="r" rtl="1"/>
            <a:r>
              <a:rPr lang="he-IL" sz="16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במקרה של הצלחה: ההיסט מתחילת הקובץ</a:t>
            </a:r>
            <a:endParaRPr lang="en-US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1C5066B-7941-4621-AF9A-A9D7B5F34901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ED20824F-8D0F-4A7B-B7F6-4F95A8ECDE1F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408DE8F6-B5BA-4740-9F33-0AE26A833B72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259DD84C-5AE9-4AFB-BA45-78BD820849B4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4308252F-9F8B-48F1-BE63-E8AD6FD4222E}"/>
              </a:ext>
            </a:extLst>
          </p:cNvPr>
          <p:cNvSpPr/>
          <p:nvPr/>
        </p:nvSpPr>
        <p:spPr>
          <a:xfrm>
            <a:off x="422148" y="1142593"/>
            <a:ext cx="5750052" cy="1372008"/>
          </a:xfrm>
          <a:prstGeom prst="roundRect">
            <a:avLst/>
          </a:prstGeom>
          <a:noFill/>
          <a:ln w="38100">
            <a:solidFill>
              <a:srgbClr val="2CD2C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Random access </a:t>
            </a:r>
            <a:r>
              <a:rPr lang="en-US" b="1" dirty="0" err="1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syscall</a:t>
            </a:r>
            <a:endParaRPr lang="en-US" b="1" dirty="0">
              <a:solidFill>
                <a:srgbClr val="0070C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343025"/>
            <a:ext cx="8229600" cy="5194300"/>
          </a:xfrm>
        </p:spPr>
        <p:txBody>
          <a:bodyPr/>
          <a:lstStyle/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r>
              <a:rPr lang="en-US" sz="1200" dirty="0"/>
              <a:t>For example:</a:t>
            </a:r>
          </a:p>
          <a:p>
            <a:pPr marL="457200" lvl="1" indent="0">
              <a:buNone/>
            </a:pPr>
            <a:r>
              <a:rPr lang="en-US" sz="1200" dirty="0"/>
              <a:t>$ cat testfile.txt</a:t>
            </a:r>
          </a:p>
          <a:p>
            <a:pPr marL="457200" lvl="1" indent="0">
              <a:buNone/>
            </a:pPr>
            <a:r>
              <a:rPr lang="en-US" sz="1200" dirty="0"/>
              <a:t>This is a test file that will be used for example.</a:t>
            </a:r>
          </a:p>
          <a:p>
            <a:pPr marL="457200" lvl="1" indent="0">
              <a:buNone/>
            </a:pPr>
            <a:r>
              <a:rPr lang="en-US" sz="1200" dirty="0"/>
              <a:t>$ ./testing</a:t>
            </a:r>
          </a:p>
          <a:p>
            <a:pPr marL="457200" lvl="1" indent="0">
              <a:buNone/>
            </a:pPr>
            <a:r>
              <a:rPr lang="en-US" sz="1200" dirty="0"/>
              <a:t>This is a test file</a:t>
            </a:r>
          </a:p>
          <a:p>
            <a:pPr marL="457200" lvl="1" indent="0">
              <a:buNone/>
            </a:pPr>
            <a:r>
              <a:rPr lang="en-US" sz="1200" dirty="0"/>
              <a:t>test file that will</a:t>
            </a:r>
          </a:p>
          <a:p>
            <a:pPr lvl="1"/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0" y="1364084"/>
            <a:ext cx="6477000" cy="3776293"/>
            <a:chOff x="1295397" y="1473194"/>
            <a:chExt cx="5121355" cy="3370892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5397" y="1473194"/>
              <a:ext cx="5121355" cy="3370892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4"/>
            <a:srcRect l="26418" t="24492" r="26416"/>
            <a:stretch/>
          </p:blipFill>
          <p:spPr>
            <a:xfrm>
              <a:off x="4724400" y="2667000"/>
              <a:ext cx="154451" cy="228600"/>
            </a:xfrm>
            <a:prstGeom prst="rect">
              <a:avLst/>
            </a:prstGeom>
          </p:spPr>
        </p:pic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507862D-B45D-42C1-862F-57D5BC9EE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601493"/>
              </p:ext>
            </p:extLst>
          </p:nvPr>
        </p:nvGraphicFramePr>
        <p:xfrm>
          <a:off x="3803334" y="1639769"/>
          <a:ext cx="5212080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99166057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8698947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22626028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5712302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985965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17968544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74241256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9975866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83592314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75997076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73354221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5871514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6692618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0621787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80850062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85645309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04478518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82761232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5669394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703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i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i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7007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578BE10-A521-441A-96A8-E297D4321D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464087"/>
              </p:ext>
            </p:extLst>
          </p:nvPr>
        </p:nvGraphicFramePr>
        <p:xfrm>
          <a:off x="3796668" y="4917175"/>
          <a:ext cx="5212080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64473376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93247312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72725638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2263143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19895747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2173090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5713825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7513671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1666417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06562819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77419074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85888104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66567538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8115841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96779687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93366485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4401966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89448609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225798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  <a:r>
                        <a:rPr lang="he-IL" sz="1000" dirty="0"/>
                        <a:t>5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  <a:r>
                        <a:rPr lang="he-IL" sz="1000" dirty="0"/>
                        <a:t>6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  <a:r>
                        <a:rPr lang="he-IL" sz="1000" dirty="0"/>
                        <a:t>7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  <a:r>
                        <a:rPr lang="he-IL" sz="1000" dirty="0"/>
                        <a:t>8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  <a:r>
                        <a:rPr lang="he-IL" sz="1000" dirty="0"/>
                        <a:t>9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884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76653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42D765F-7C9A-4176-8B62-81289F8B5D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381520"/>
              </p:ext>
            </p:extLst>
          </p:nvPr>
        </p:nvGraphicFramePr>
        <p:xfrm>
          <a:off x="5037774" y="3553826"/>
          <a:ext cx="2743200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73959468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4173014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81012415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94161002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35236198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59174713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197107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91676483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9377932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82566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761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i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i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8530003"/>
                  </a:ext>
                </a:extLst>
              </a:tr>
            </a:tbl>
          </a:graphicData>
        </a:graphic>
      </p:graphicFrame>
      <p:sp>
        <p:nvSpPr>
          <p:cNvPr id="11" name="Rectangle 12">
            <a:extLst>
              <a:ext uri="{FF2B5EF4-FFF2-40B4-BE49-F238E27FC236}">
                <a16:creationId xmlns:a16="http://schemas.microsoft.com/office/drawing/2014/main" id="{27CA17A0-D864-461B-993A-5CAB985B0CAF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F720F55A-0C84-425B-B64D-70B589C3FEC9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2DBFF9-30EF-4C09-B412-C879E40798D0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8712859B-921A-4329-A5E1-DA21A2A9845C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569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r" rtl="1">
              <a:lnSpc>
                <a:spcPct val="80000"/>
              </a:lnSpc>
              <a:buClr>
                <a:srgbClr val="0070C0"/>
              </a:buClr>
              <a:buNone/>
            </a:pPr>
            <a:r>
              <a:rPr lang="he-IL" sz="2400" dirty="0"/>
              <a:t>ה-</a:t>
            </a:r>
            <a:r>
              <a:rPr lang="en-US" sz="2400" dirty="0"/>
              <a:t>man</a:t>
            </a:r>
            <a:r>
              <a:rPr lang="he-IL" sz="2400" dirty="0"/>
              <a:t> מחולק לחלקים:</a:t>
            </a:r>
          </a:p>
          <a:p>
            <a:pPr lvl="0">
              <a:lnSpc>
                <a:spcPct val="80000"/>
              </a:lnSpc>
              <a:spcBef>
                <a:spcPts val="697"/>
              </a:spcBef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Section 1 – commands</a:t>
            </a:r>
          </a:p>
          <a:p>
            <a:pPr lvl="0">
              <a:lnSpc>
                <a:spcPct val="80000"/>
              </a:lnSpc>
              <a:spcBef>
                <a:spcPts val="697"/>
              </a:spcBef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Section 2 – system calls</a:t>
            </a:r>
          </a:p>
          <a:p>
            <a:pPr lvl="0">
              <a:lnSpc>
                <a:spcPct val="80000"/>
              </a:lnSpc>
              <a:spcBef>
                <a:spcPts val="697"/>
              </a:spcBef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Section 3 – C library function</a:t>
            </a:r>
          </a:p>
          <a:p>
            <a:pPr lvl="0">
              <a:lnSpc>
                <a:spcPct val="80000"/>
              </a:lnSpc>
              <a:spcBef>
                <a:spcPts val="697"/>
              </a:spcBef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Section 4 – special files</a:t>
            </a:r>
          </a:p>
          <a:p>
            <a:pPr lvl="0">
              <a:lnSpc>
                <a:spcPct val="80000"/>
              </a:lnSpc>
              <a:spcBef>
                <a:spcPts val="697"/>
              </a:spcBef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Section 5 – file formats</a:t>
            </a:r>
          </a:p>
          <a:p>
            <a:pPr lvl="0">
              <a:lnSpc>
                <a:spcPct val="80000"/>
              </a:lnSpc>
              <a:spcBef>
                <a:spcPts val="697"/>
              </a:spcBef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Section 6 – games</a:t>
            </a:r>
          </a:p>
          <a:p>
            <a:pPr lvl="0">
              <a:lnSpc>
                <a:spcPct val="80000"/>
              </a:lnSpc>
              <a:spcBef>
                <a:spcPts val="697"/>
              </a:spcBef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Section 7 – miscellaneous</a:t>
            </a:r>
          </a:p>
          <a:p>
            <a:pPr lvl="0">
              <a:lnSpc>
                <a:spcPct val="80000"/>
              </a:lnSpc>
              <a:spcBef>
                <a:spcPts val="697"/>
              </a:spcBef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Section 8 – system management</a:t>
            </a:r>
          </a:p>
          <a:p>
            <a:pPr lvl="0">
              <a:lnSpc>
                <a:spcPct val="80000"/>
              </a:lnSpc>
              <a:spcBef>
                <a:spcPts val="697"/>
              </a:spcBef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Section 9 – kernel routines</a:t>
            </a:r>
          </a:p>
          <a:p>
            <a:pPr>
              <a:lnSpc>
                <a:spcPct val="80000"/>
              </a:lnSpc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8FE8385-E035-402F-81BA-0FC2A464BE30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087818F0-5EA5-4043-A01C-01103A66FDE0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FBB61F0-A401-4EBA-AFF5-6871B0514FBA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D466D481-EFD1-4323-AF1B-0B2F2A6A9332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4210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לינוקס</a:t>
            </a:r>
            <a:endParaRPr lang="en-US" b="1" dirty="0">
              <a:solidFill>
                <a:srgbClr val="0070C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3024"/>
            <a:ext cx="8229600" cy="2998851"/>
          </a:xfrm>
        </p:spPr>
        <p:txBody>
          <a:bodyPr/>
          <a:lstStyle/>
          <a:p>
            <a:pPr marL="0" indent="0" algn="r" rtl="1">
              <a:lnSpc>
                <a:spcPct val="80000"/>
              </a:lnSpc>
              <a:buNone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ישנן פקודות המופיעות במספר חלקים, כדי לקבל הסבר על הפקודה בחלק הרלוונטי יש להקליד את מספר החלק.</a:t>
            </a:r>
          </a:p>
          <a:p>
            <a:pPr algn="r" rtl="1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he-IL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lvl="1" algn="r" rt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למשל:  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man 2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chmod</a:t>
            </a:r>
            <a:endParaRPr lang="he-IL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lvl="1" algn="r" rt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אם הפקודה מופיעה במספר חלקים ומבקשים עזרה לפקודה ללא ציון החלק נקבל כתשובה עזרה מהחלק הנמוך ביותר שהפקודה נמצאת בו.</a:t>
            </a:r>
          </a:p>
          <a:p>
            <a:pPr lvl="1" algn="r" rtl="1">
              <a:lnSpc>
                <a:spcPct val="80000"/>
              </a:lnSpc>
            </a:pPr>
            <a:endParaRPr lang="en-US" sz="2400" dirty="0"/>
          </a:p>
          <a:p>
            <a:pPr algn="r" rtl="1">
              <a:lnSpc>
                <a:spcPct val="80000"/>
              </a:lnSpc>
            </a:pPr>
            <a:endParaRPr lang="he-IL" sz="2400" dirty="0"/>
          </a:p>
          <a:p>
            <a:pPr algn="l">
              <a:lnSpc>
                <a:spcPct val="80000"/>
              </a:lnSpc>
              <a:buNone/>
            </a:pPr>
            <a:endParaRPr lang="en-US" dirty="0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A71B72C-253C-4156-B9EA-7EF9C531C035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E8BC077B-F804-4C16-9319-5A062AB1136C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87B0986A-CE8C-407F-A43C-3F6ECB6D65F0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617441C7-F142-45BB-A0CD-5E9E3B593915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pic>
        <p:nvPicPr>
          <p:cNvPr id="13" name="תמונה 12">
            <a:extLst>
              <a:ext uri="{FF2B5EF4-FFF2-40B4-BE49-F238E27FC236}">
                <a16:creationId xmlns:a16="http://schemas.microsoft.com/office/drawing/2014/main" id="{9194A2A1-07B0-4AD7-923C-EB83127FB31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455" y="1978075"/>
            <a:ext cx="8254345" cy="2133600"/>
          </a:xfrm>
          <a:prstGeom prst="rect">
            <a:avLst/>
          </a:prstGeom>
        </p:spPr>
      </p:pic>
      <p:pic>
        <p:nvPicPr>
          <p:cNvPr id="4" name="תמונה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8236" y="4304400"/>
            <a:ext cx="8224294" cy="246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045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3025"/>
            <a:ext cx="8229600" cy="51371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#include &lt;sys/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types.h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&gt; </a:t>
            </a:r>
          </a:p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#include &lt;sys/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stat.h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&gt; </a:t>
            </a:r>
          </a:p>
          <a:p>
            <a:pPr>
              <a:buNone/>
            </a:pPr>
            <a:r>
              <a:rPr lang="en-US" sz="2400" b="1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chmod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en-US" sz="2400" b="1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const char*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path, </a:t>
            </a:r>
            <a:r>
              <a:rPr lang="en-US" sz="2400" b="1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mode_t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mod); </a:t>
            </a:r>
          </a:p>
          <a:p>
            <a:pPr>
              <a:buNone/>
            </a:pPr>
            <a:endParaRPr lang="en-US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Mod:</a:t>
            </a:r>
          </a:p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	 </a:t>
            </a:r>
            <a:r>
              <a:rPr lang="en-US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S_IRWXU = (S_IRUSR | S_IWUSR | S_IXUSR)</a:t>
            </a:r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	 S_IRWXG = (S_IRGRP | S_IWGRP | S_IXGRP)</a:t>
            </a:r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	 S_IRWXO = (S_IROTH | S_IWOTH | S_IXOTH)</a:t>
            </a:r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	 S_ISUID = set the </a:t>
            </a:r>
            <a:r>
              <a:rPr lang="en-US" sz="18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suid</a:t>
            </a:r>
            <a:r>
              <a:rPr lang="en-US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bit</a:t>
            </a:r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	 S_ISGID = set the </a:t>
            </a:r>
            <a:r>
              <a:rPr lang="en-US" sz="18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sgid</a:t>
            </a:r>
            <a:r>
              <a:rPr lang="en-US" sz="18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bit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chmod</a:t>
            </a:r>
            <a:endParaRPr lang="en-US" b="1" dirty="0">
              <a:solidFill>
                <a:srgbClr val="0070C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1DB11E0F-C8D0-440F-B9F5-D957CBFD8C4E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604E844D-1191-4772-958D-F1E52E97A792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922E2E-70B2-455F-9C75-989D8BE897DD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F468818A-099B-45F0-9EFA-740702E97351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chdir</a:t>
            </a:r>
            <a:endParaRPr lang="en-US" b="1" dirty="0">
              <a:solidFill>
                <a:srgbClr val="0070C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#include &lt;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unistd.h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&gt; </a:t>
            </a:r>
          </a:p>
          <a:p>
            <a:pPr>
              <a:buNone/>
            </a:pP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chdir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(const char *</a:t>
            </a:r>
            <a:r>
              <a:rPr lang="en-US" sz="2400" i="1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path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);</a:t>
            </a:r>
          </a:p>
          <a:p>
            <a:pPr algn="r" rtl="1">
              <a:buNone/>
            </a:pPr>
            <a:endParaRPr lang="he-IL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0" indent="0" algn="r" rtl="1">
              <a:buNone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שינוי ה-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working directory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של </a:t>
            </a:r>
            <a:r>
              <a:rPr lang="he-IL" sz="2400" u="sng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התהליך המבצע קריאה לפונקציה זו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</a:p>
          <a:p>
            <a:pPr algn="r" rtl="1"/>
            <a:endParaRPr lang="he-IL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20E1185-2548-43DD-8834-D84F2DEC7A5E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264CA40C-0A47-448B-A9F3-ABA477CE94A4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A6895F18-93BC-431F-8B6A-494B65370AFD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BB93967A-7FF1-4F59-9D9B-EECFF8C268B3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12064C3B-B792-4B24-9D07-757A1E4AB233}"/>
              </a:ext>
            </a:extLst>
          </p:cNvPr>
          <p:cNvSpPr/>
          <p:nvPr/>
        </p:nvSpPr>
        <p:spPr>
          <a:xfrm>
            <a:off x="457200" y="1405217"/>
            <a:ext cx="3962400" cy="804583"/>
          </a:xfrm>
          <a:prstGeom prst="roundRect">
            <a:avLst/>
          </a:prstGeom>
          <a:noFill/>
          <a:ln w="38100">
            <a:solidFill>
              <a:srgbClr val="2CD2C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errno</a:t>
            </a:r>
            <a:endParaRPr lang="en-US" b="1" dirty="0">
              <a:solidFill>
                <a:srgbClr val="0070C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ea typeface="ＭＳ Ｐゴシック" pitchFamily="2"/>
                <a:cs typeface="Assistant" panose="00000500000000000000" pitchFamily="2" charset="-79"/>
              </a:rPr>
              <a:t>#include &lt;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ea typeface="ＭＳ Ｐゴシック" pitchFamily="2"/>
                <a:cs typeface="Assistant" panose="00000500000000000000" pitchFamily="2" charset="-79"/>
              </a:rPr>
              <a:t>errno.h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ea typeface="ＭＳ Ｐゴシック" pitchFamily="2"/>
                <a:cs typeface="Assistant" panose="00000500000000000000" pitchFamily="2" charset="-79"/>
              </a:rPr>
              <a:t>&gt;</a:t>
            </a:r>
            <a:b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ea typeface="ＭＳ Ｐゴシック" pitchFamily="2"/>
                <a:cs typeface="Assistant" panose="00000500000000000000" pitchFamily="2" charset="-79"/>
              </a:rPr>
            </a:b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ea typeface="ＭＳ Ｐゴシック" pitchFamily="2"/>
                <a:cs typeface="Assistant" panose="00000500000000000000" pitchFamily="2" charset="-79"/>
              </a:rPr>
              <a:t>extern int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ea typeface="ＭＳ Ｐゴシック" pitchFamily="2"/>
                <a:cs typeface="Assistant" panose="00000500000000000000" pitchFamily="2" charset="-79"/>
              </a:rPr>
              <a:t>errno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ea typeface="ＭＳ Ｐゴシック" pitchFamily="2"/>
                <a:cs typeface="Assistant" panose="00000500000000000000" pitchFamily="2" charset="-79"/>
              </a:rPr>
              <a:t>;</a:t>
            </a:r>
            <a:endParaRPr lang="he-IL" sz="2400" dirty="0">
              <a:solidFill>
                <a:srgbClr val="000000"/>
              </a:solidFill>
              <a:latin typeface="Assistant" panose="00000500000000000000" pitchFamily="2" charset="-79"/>
              <a:ea typeface="ＭＳ Ｐゴシック" pitchFamily="2"/>
              <a:cs typeface="Assistant" panose="00000500000000000000" pitchFamily="2" charset="-79"/>
            </a:endParaRPr>
          </a:p>
          <a:p>
            <a:pPr marL="0" indent="0" algn="r" rtl="1">
              <a:buNone/>
            </a:pPr>
            <a:endParaRPr lang="he-IL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כמעט כל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syscall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בלינוקס מחזירה את סיבת השגיאה למשתנה שנקרא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errno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ea typeface="ＭＳ Ｐゴシック" pitchFamily="2"/>
                <a:cs typeface="Assistant" panose="00000500000000000000" pitchFamily="2" charset="-79"/>
              </a:rPr>
              <a:t>לכל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ea typeface="ＭＳ Ｐゴシック" pitchFamily="2"/>
                <a:cs typeface="Assistant" panose="00000500000000000000" pitchFamily="2" charset="-79"/>
              </a:rPr>
              <a:t>syscall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ea typeface="ＭＳ Ｐゴシック" pitchFamily="2"/>
                <a:cs typeface="Assistant" panose="00000500000000000000" pitchFamily="2" charset="-79"/>
              </a:rPr>
              <a:t> יש סיבות אחרות לשגיאה.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ea typeface="ＭＳ Ｐゴシック" pitchFamily="2"/>
                <a:cs typeface="Assistant" panose="00000500000000000000" pitchFamily="2" charset="-79"/>
              </a:rPr>
              <a:t>בעת שגיאה צריך לבדוק מה הערך של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ea typeface="ＭＳ Ｐゴシック" pitchFamily="2"/>
                <a:cs typeface="Assistant" panose="00000500000000000000" pitchFamily="2" charset="-79"/>
              </a:rPr>
              <a:t>errno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ea typeface="ＭＳ Ｐゴシック" pitchFamily="2"/>
                <a:cs typeface="Assistant" panose="00000500000000000000" pitchFamily="2" charset="-79"/>
              </a:rPr>
              <a:t> ולפי זה להדפיס הודעה מתאימה.</a:t>
            </a:r>
            <a:endParaRPr lang="en-US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E89288C-D080-4789-9D16-24C7C396AC66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C4A02C2A-0ED5-4B18-A9EB-7D098032CF07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1A26C3B0-2390-4345-9394-006194B7FC21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254C7955-42B4-45EE-A565-D257BBDDFCF3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C2E2B2AE-56AC-4E79-B40D-036DCB6ABA1C}"/>
              </a:ext>
            </a:extLst>
          </p:cNvPr>
          <p:cNvSpPr/>
          <p:nvPr/>
        </p:nvSpPr>
        <p:spPr>
          <a:xfrm>
            <a:off x="457200" y="1347402"/>
            <a:ext cx="2688336" cy="804583"/>
          </a:xfrm>
          <a:prstGeom prst="roundRect">
            <a:avLst/>
          </a:prstGeom>
          <a:noFill/>
          <a:ln w="38100">
            <a:solidFill>
              <a:srgbClr val="2CD2C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המשך</a:t>
            </a:r>
            <a:r>
              <a:rPr lang="en-US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-</a:t>
            </a:r>
            <a:r>
              <a:rPr lang="he-IL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errno</a:t>
            </a:r>
            <a:endParaRPr lang="en-US" b="1" dirty="0">
              <a:solidFill>
                <a:srgbClr val="0070C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</a:rPr>
              <a:t>דוגמאות לשגיאות והתיאור שלהן:</a:t>
            </a:r>
            <a:endParaRPr lang="en-US" sz="2400" dirty="0">
              <a:solidFill>
                <a:srgbClr val="000000"/>
              </a:solidFill>
            </a:endParaRPr>
          </a:p>
        </p:txBody>
      </p:sp>
      <p:graphicFrame>
        <p:nvGraphicFramePr>
          <p:cNvPr id="6" name="טבלה 6">
            <a:extLst>
              <a:ext uri="{FF2B5EF4-FFF2-40B4-BE49-F238E27FC236}">
                <a16:creationId xmlns:a16="http://schemas.microsoft.com/office/drawing/2014/main" id="{8BE77942-A2A7-444A-B396-528D1995C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114359"/>
              </p:ext>
            </p:extLst>
          </p:nvPr>
        </p:nvGraphicFramePr>
        <p:xfrm>
          <a:off x="1371600" y="2102485"/>
          <a:ext cx="6553200" cy="44043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184400">
                  <a:extLst>
                    <a:ext uri="{9D8B030D-6E8A-4147-A177-3AD203B41FA5}">
                      <a16:colId xmlns:a16="http://schemas.microsoft.com/office/drawing/2014/main" val="2145630367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4144827187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3234304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Error Description</a:t>
                      </a:r>
                      <a:endParaRPr lang="he-IL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Error Number</a:t>
                      </a:r>
                      <a:endParaRPr lang="he-IL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Error Code</a:t>
                      </a:r>
                      <a:endParaRPr lang="he-IL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9905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Operation not permitted </a:t>
                      </a:r>
                      <a:endParaRPr lang="he-IL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1</a:t>
                      </a:r>
                      <a:endParaRPr lang="he-IL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EPERM</a:t>
                      </a:r>
                      <a:endParaRPr lang="he-IL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1041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No such file or directory</a:t>
                      </a:r>
                      <a:endParaRPr lang="he-IL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2</a:t>
                      </a:r>
                      <a:endParaRPr lang="he-IL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ENOENT</a:t>
                      </a:r>
                      <a:endParaRPr lang="he-IL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3927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No such process </a:t>
                      </a:r>
                      <a:endParaRPr lang="he-IL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3</a:t>
                      </a:r>
                      <a:endParaRPr lang="he-IL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ESRCH</a:t>
                      </a:r>
                      <a:endParaRPr lang="he-IL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48890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Interrupted system call </a:t>
                      </a:r>
                      <a:endParaRPr lang="he-IL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4</a:t>
                      </a:r>
                      <a:endParaRPr lang="he-IL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EINTR</a:t>
                      </a:r>
                      <a:endParaRPr lang="he-IL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09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I/O error </a:t>
                      </a:r>
                      <a:endParaRPr lang="he-IL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5</a:t>
                      </a:r>
                      <a:endParaRPr lang="he-IL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EIO </a:t>
                      </a:r>
                      <a:endParaRPr lang="he-IL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584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No such device or address</a:t>
                      </a:r>
                      <a:endParaRPr lang="he-IL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6</a:t>
                      </a:r>
                      <a:endParaRPr lang="he-IL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ENXIO</a:t>
                      </a:r>
                      <a:endParaRPr lang="he-IL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708671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rtl="1"/>
                      <a:r>
                        <a:rPr lang="en-US" sz="1800" dirty="0" err="1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Arg</a:t>
                      </a:r>
                      <a:r>
                        <a:rPr lang="en-US" sz="18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 list too long </a:t>
                      </a:r>
                      <a:endParaRPr lang="he-IL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7</a:t>
                      </a:r>
                      <a:endParaRPr lang="he-IL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E2BIG</a:t>
                      </a:r>
                      <a:endParaRPr lang="he-IL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9514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1"/>
                      <a:endParaRPr lang="he-IL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latin typeface="Assistant" panose="00000500000000000000" pitchFamily="2" charset="-79"/>
                          <a:cs typeface="Assistant" panose="00000500000000000000" pitchFamily="2" charset="-79"/>
                        </a:rPr>
                        <a:t>… and more</a:t>
                      </a:r>
                      <a:endParaRPr lang="he-IL" dirty="0">
                        <a:latin typeface="Assistant" panose="00000500000000000000" pitchFamily="2" charset="-79"/>
                        <a:cs typeface="Assistant" panose="00000500000000000000" pitchFamily="2" charset="-79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3303715"/>
                  </a:ext>
                </a:extLst>
              </a:tr>
            </a:tbl>
          </a:graphicData>
        </a:graphic>
      </p:graphicFrame>
      <p:sp>
        <p:nvSpPr>
          <p:cNvPr id="7" name="Rectangle 12">
            <a:extLst>
              <a:ext uri="{FF2B5EF4-FFF2-40B4-BE49-F238E27FC236}">
                <a16:creationId xmlns:a16="http://schemas.microsoft.com/office/drawing/2014/main" id="{041D57BB-B18C-45AC-BAA9-F26CE8CABD8E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5C8FB1F-00EA-46FA-8B33-46547852D7C8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5B8202CD-CA26-4FCB-9F7D-2FFBA4DC3537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C6835F90-1C0C-4F9A-87BF-F6AF27C8DFFF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58814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דוגמא </a:t>
            </a:r>
            <a:r>
              <a:rPr lang="en-US" b="1" dirty="0" err="1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errno</a:t>
            </a:r>
            <a:endParaRPr lang="en-US" b="1" dirty="0">
              <a:solidFill>
                <a:srgbClr val="0070C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599"/>
            <a:ext cx="8229600" cy="4727575"/>
          </a:xfrm>
        </p:spPr>
        <p:txBody>
          <a:bodyPr/>
          <a:lstStyle/>
          <a:p>
            <a:pPr>
              <a:buNone/>
            </a:pP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x = write(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fd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buf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 10);</a:t>
            </a:r>
          </a:p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if (x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==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-1) </a:t>
            </a:r>
          </a:p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{</a:t>
            </a:r>
          </a:p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	if(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errno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==EBADF) </a:t>
            </a:r>
          </a:p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     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perror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(“file handle is invalid or not open for writing”);</a:t>
            </a:r>
          </a:p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	if(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errno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==ENOSPC) </a:t>
            </a:r>
          </a:p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     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perror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(“not enough free space”);</a:t>
            </a:r>
          </a:p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}</a:t>
            </a:r>
          </a:p>
          <a:p>
            <a:pPr>
              <a:buNone/>
            </a:pPr>
            <a:endParaRPr lang="en-US" sz="28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8A1A99C-B3D4-4819-9154-5D0A50A0804F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7B3AAADE-3D06-4A82-BE46-F4292F5AB57F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CADB0B06-BBF0-4C81-8DEE-197B91B7A2D8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3D6C9295-8398-4C66-8669-A6CE002F865F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 b="1" dirty="0" err="1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perror</a:t>
            </a:r>
            <a:endParaRPr lang="en-US" b="1" dirty="0">
              <a:solidFill>
                <a:srgbClr val="0070C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10" name="מציין מיקום תוכן 9">
            <a:extLst>
              <a:ext uri="{FF2B5EF4-FFF2-40B4-BE49-F238E27FC236}">
                <a16:creationId xmlns:a16="http://schemas.microsoft.com/office/drawing/2014/main" id="{A344E9F1-84CD-4EAB-944A-0137200D4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#include &lt;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stdio.h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&gt;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void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perror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(const char *s);</a:t>
            </a:r>
          </a:p>
          <a:p>
            <a:endParaRPr lang="en-US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0" indent="0" algn="r" rtl="1">
              <a:buNone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הפונקציה מדפיסה הודעת שגיאה ל-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stderr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אשר מתארת את השגיאה האחרונה שהתרחשה במהלך קריאה ל-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system call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או פונקציית ספריה.</a:t>
            </a:r>
          </a:p>
          <a:p>
            <a:pPr marL="0" indent="0" algn="r" rtl="1">
              <a:buNone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יודפס ה-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string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שהועבר, לאחר מכן נקודתיים ורווח, והודעת השגיאה המתאימה ל-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errno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351BE0D-C9BF-460D-996B-DB0382EA0202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F4EA2851-948A-4E38-8C62-55AA8FF6C3B6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3957A775-0B6C-4B99-A07B-7657F54F767F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28E5E4D8-359B-43E6-90C5-0CB0B1F0B35D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1" name="מלבן: פינות מעוגלות 10">
            <a:extLst>
              <a:ext uri="{FF2B5EF4-FFF2-40B4-BE49-F238E27FC236}">
                <a16:creationId xmlns:a16="http://schemas.microsoft.com/office/drawing/2014/main" id="{47D63CC8-C4C2-4C42-B820-F0880C22A0A7}"/>
              </a:ext>
            </a:extLst>
          </p:cNvPr>
          <p:cNvSpPr/>
          <p:nvPr/>
        </p:nvSpPr>
        <p:spPr>
          <a:xfrm>
            <a:off x="457200" y="1405217"/>
            <a:ext cx="3733800" cy="804583"/>
          </a:xfrm>
          <a:prstGeom prst="roundRect">
            <a:avLst/>
          </a:prstGeom>
          <a:noFill/>
          <a:ln w="38100">
            <a:solidFill>
              <a:srgbClr val="2CD2C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דוגמא </a:t>
            </a:r>
            <a:r>
              <a:rPr lang="en-US" b="1" dirty="0" err="1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perror</a:t>
            </a:r>
            <a:endParaRPr lang="en-US" b="1" dirty="0">
              <a:solidFill>
                <a:srgbClr val="0070C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AA0771FC-D4D2-4FBF-9421-567547B475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2991"/>
          <a:stretch/>
        </p:blipFill>
        <p:spPr>
          <a:xfrm>
            <a:off x="1460500" y="5334000"/>
            <a:ext cx="6234113" cy="563562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D5678AFC-7CAE-4FE1-B5A4-C5904B7324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1460500" y="1905000"/>
            <a:ext cx="6223000" cy="2667000"/>
          </a:xfrm>
          <a:prstGeom prst="rect">
            <a:avLst/>
          </a:prstGeom>
        </p:spPr>
      </p:pic>
      <p:sp>
        <p:nvSpPr>
          <p:cNvPr id="7" name="Rectangle 12">
            <a:extLst>
              <a:ext uri="{FF2B5EF4-FFF2-40B4-BE49-F238E27FC236}">
                <a16:creationId xmlns:a16="http://schemas.microsoft.com/office/drawing/2014/main" id="{24D479F3-FAC1-4253-B054-421D07E653B0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AFCA3EF6-3185-488D-9647-66BC5B8BBB3B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FB83F0AF-92D7-4AEE-9275-29DAA28C5FB4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700377D5-AAA7-48D7-906E-05775A6E9D2E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pic>
        <p:nvPicPr>
          <p:cNvPr id="13" name="Picture 2" descr="תוצאת תמונה עבור console windows vector">
            <a:extLst>
              <a:ext uri="{FF2B5EF4-FFF2-40B4-BE49-F238E27FC236}">
                <a16:creationId xmlns:a16="http://schemas.microsoft.com/office/drawing/2014/main" id="{82BA98BB-1097-4C7A-B086-182B6A9C4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7031" y="4808446"/>
            <a:ext cx="367496" cy="367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5">
            <a:extLst>
              <a:ext uri="{FF2B5EF4-FFF2-40B4-BE49-F238E27FC236}">
                <a16:creationId xmlns:a16="http://schemas.microsoft.com/office/drawing/2014/main" id="{1BB3400A-E639-4219-884D-173B40AEE88B}"/>
              </a:ext>
            </a:extLst>
          </p:cNvPr>
          <p:cNvSpPr txBox="1"/>
          <p:nvPr/>
        </p:nvSpPr>
        <p:spPr>
          <a:xfrm>
            <a:off x="1834527" y="4763582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9430989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Reading and writing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האם כל קריאה לפונקציה 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read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מבצעת קריאה פיזית מהדיסק?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קריאה מהדיסק = צוואר בקבוק</a:t>
            </a:r>
          </a:p>
          <a:p>
            <a:pPr algn="r" rtl="1">
              <a:buFont typeface="Arial" panose="020B0604020202020204" pitchFamily="34" charset="0"/>
              <a:buChar char="•"/>
            </a:pPr>
            <a:endParaRPr lang="he-IL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נרצה שקריאות מהדיסק יהיו בגודל של "בלוק".</a:t>
            </a:r>
          </a:p>
          <a:p>
            <a:pPr algn="r" rtl="1">
              <a:buFont typeface="Arial" panose="020B0604020202020204" pitchFamily="34" charset="0"/>
              <a:buChar char="•"/>
            </a:pPr>
            <a:endParaRPr lang="he-IL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כתיבה פיזית לדיסק מאוד יקרה...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נעדיף לכתוב בבת אחת הרבה מידע לדיסק.</a:t>
            </a:r>
          </a:p>
          <a:p>
            <a:pPr algn="r" rtl="1">
              <a:buFont typeface="Arial" panose="020B0604020202020204" pitchFamily="34" charset="0"/>
              <a:buChar char="•"/>
            </a:pPr>
            <a:endParaRPr lang="he-IL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D863ACF-206C-4AEC-8B4C-DF9D0AA7B673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E3C7F373-AB91-4C3B-B8B9-12D11CB36457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DA0309F7-4D87-4E11-B5F0-22A3565EC32D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F246D21A-AE71-4D0D-B2DC-A4D5DE3E9C78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User buffering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 rtl="1">
              <a:buNone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האם אפשר לסמוך על יעילות פונקציות 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read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ו-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write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?</a:t>
            </a:r>
          </a:p>
          <a:p>
            <a:pPr algn="r" rtl="1"/>
            <a:endParaRPr lang="he-IL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0" indent="0" algn="r" rtl="1">
              <a:buNone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דוגמא 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t5_4.c</a:t>
            </a:r>
            <a:endParaRPr lang="he-IL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0" indent="0" algn="r" rtl="1">
              <a:buNone/>
            </a:pPr>
            <a:endParaRPr lang="en-US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905DC0C-96A2-4866-BAD1-7B63643A29AF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482C4526-FDC0-431C-AA7E-33AF381528EA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D88633B1-3267-4779-8C62-A46FDD206045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B10ADD9E-C1F7-40FB-927B-7FA3990CEB5F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E0860B5-1A9E-4D5B-8A9F-C0F31785D498}"/>
              </a:ext>
            </a:extLst>
          </p:cNvPr>
          <p:cNvSpPr txBox="1">
            <a:spLocks noChangeArrowheads="1"/>
          </p:cNvSpPr>
          <p:nvPr/>
        </p:nvSpPr>
        <p:spPr>
          <a:xfrm>
            <a:off x="3484562" y="2606129"/>
            <a:ext cx="2174875" cy="822871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>
            <a:lvl1pPr algn="r" defTabSz="6858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en-US" b="1" dirty="0">
                <a:solidFill>
                  <a:schemeClr val="accent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t5_4.c</a:t>
            </a:r>
          </a:p>
        </p:txBody>
      </p:sp>
      <p:pic>
        <p:nvPicPr>
          <p:cNvPr id="11" name="גרפיקה 10" descr="מתכנת">
            <a:extLst>
              <a:ext uri="{FF2B5EF4-FFF2-40B4-BE49-F238E27FC236}">
                <a16:creationId xmlns:a16="http://schemas.microsoft.com/office/drawing/2014/main" id="{C3C4D716-BCCF-49C3-86DD-8338FA45C7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4300" y="3429000"/>
            <a:ext cx="12954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fread</a:t>
            </a:r>
            <a:r>
              <a:rPr lang="en-US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&amp; </a:t>
            </a:r>
            <a:r>
              <a:rPr lang="en-US" b="1" dirty="0" err="1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fwrite</a:t>
            </a:r>
            <a:r>
              <a:rPr lang="en-US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c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מה הרעיון מאחורי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fread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ו-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fwrite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(פונקציות 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I/O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של שפת 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)?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דוגמא 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t5_5.c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כאשר מתבצעת קריאה לפונקציה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fwrite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המידע נשמר ב-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buffer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 המידע צפוי מתישהו להיכתב פיזית לדיסק.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אז מה הבעיה?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יציאה לא מסודרת של תהליך (למשל בקריסה או שימוש ב-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_exit()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  <a:endParaRPr lang="en-US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EF6B9F1B-A7DE-48A1-9366-B447B3EF3D93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22616B0C-54EA-437C-8065-E44A5299522D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0C7AFD1-29B1-4393-A09B-BE921EE956B1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87586DF1-54E3-4058-924D-C5C7DA6720B8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חיוב כתיבה פיזית</a:t>
            </a:r>
            <a:endParaRPr lang="en-US" b="1" dirty="0">
              <a:solidFill>
                <a:srgbClr val="0070C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fd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=open(file,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O_WRONLY | O_SYNC);</a:t>
            </a:r>
          </a:p>
          <a:p>
            <a:pPr algn="r" rtl="1">
              <a:buNone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כל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fwrite</a:t>
            </a: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ימתין עד שהמידע יכתב פיזית לדיסק.</a:t>
            </a:r>
          </a:p>
          <a:p>
            <a:pPr algn="r" rtl="1">
              <a:buNone/>
            </a:pPr>
            <a:endParaRPr lang="he-IL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>
              <a:buNone/>
            </a:pPr>
            <a:r>
              <a:rPr lang="he-IL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או לחילופין:</a:t>
            </a:r>
          </a:p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#include &lt;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unistd.h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&gt; </a:t>
            </a:r>
          </a:p>
          <a:p>
            <a:pPr>
              <a:buNone/>
            </a:pP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fsync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2400" i="1" dirty="0" err="1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fd</a:t>
            </a:r>
            <a:r>
              <a:rPr lang="en-US" sz="2400" dirty="0">
                <a:solidFill>
                  <a:srgbClr val="00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); </a:t>
            </a:r>
          </a:p>
          <a:p>
            <a:pPr algn="l">
              <a:buNone/>
            </a:pPr>
            <a:endParaRPr lang="en-US" sz="2400" dirty="0">
              <a:solidFill>
                <a:srgbClr val="00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F2F4ACC-2607-4A87-B27D-1B1B561BA690}"/>
              </a:ext>
            </a:extLst>
          </p:cNvPr>
          <p:cNvSpPr/>
          <p:nvPr/>
        </p:nvSpPr>
        <p:spPr>
          <a:xfrm rot="5400000">
            <a:off x="8660847" y="6342792"/>
            <a:ext cx="115200" cy="9144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18E765F4-8F9D-481B-B794-70B901691561}"/>
              </a:ext>
            </a:extLst>
          </p:cNvPr>
          <p:cNvSpPr/>
          <p:nvPr/>
        </p:nvSpPr>
        <p:spPr>
          <a:xfrm rot="5400000">
            <a:off x="7763909" y="6343200"/>
            <a:ext cx="115200" cy="9144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77A2406C-7CD8-422A-83C1-33AA7602224D}"/>
              </a:ext>
            </a:extLst>
          </p:cNvPr>
          <p:cNvSpPr/>
          <p:nvPr/>
        </p:nvSpPr>
        <p:spPr>
          <a:xfrm rot="5400000">
            <a:off x="3632400" y="3109992"/>
            <a:ext cx="115200" cy="7380000"/>
          </a:xfrm>
          <a:prstGeom prst="rect">
            <a:avLst/>
          </a:prstGeom>
          <a:solidFill>
            <a:srgbClr val="497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2B9271EC-AD67-454D-B512-3ABE95650BA9}"/>
              </a:ext>
            </a:extLst>
          </p:cNvPr>
          <p:cNvSpPr/>
          <p:nvPr/>
        </p:nvSpPr>
        <p:spPr>
          <a:xfrm>
            <a:off x="2" y="0"/>
            <a:ext cx="114724" cy="68580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FCA0D433-0510-4018-A536-6F2A70C6FA25}"/>
              </a:ext>
            </a:extLst>
          </p:cNvPr>
          <p:cNvSpPr/>
          <p:nvPr/>
        </p:nvSpPr>
        <p:spPr>
          <a:xfrm>
            <a:off x="454186" y="3107017"/>
            <a:ext cx="2631490" cy="855383"/>
          </a:xfrm>
          <a:prstGeom prst="roundRect">
            <a:avLst/>
          </a:prstGeom>
          <a:noFill/>
          <a:ln w="38100">
            <a:solidFill>
              <a:srgbClr val="2CD2C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theme/theme1.xml><?xml version="1.0" encoding="utf-8"?>
<a:theme xmlns:a="http://schemas.openxmlformats.org/drawingml/2006/main" name="cdb2004138l">
  <a:themeElements>
    <a:clrScheme name="התאמה אישית 1">
      <a:dk1>
        <a:srgbClr val="677480"/>
      </a:dk1>
      <a:lt1>
        <a:srgbClr val="FFFFFF"/>
      </a:lt1>
      <a:dk2>
        <a:srgbClr val="2185C5"/>
      </a:dk2>
      <a:lt2>
        <a:srgbClr val="DEE2E6"/>
      </a:lt2>
      <a:accent1>
        <a:srgbClr val="2185C5"/>
      </a:accent1>
      <a:accent2>
        <a:srgbClr val="7ECEFD"/>
      </a:accent2>
      <a:accent3>
        <a:srgbClr val="F20253"/>
      </a:accent3>
      <a:accent4>
        <a:srgbClr val="FF9715"/>
      </a:accent4>
      <a:accent5>
        <a:srgbClr val="1C3AA9"/>
      </a:accent5>
      <a:accent6>
        <a:srgbClr val="97ABBC"/>
      </a:accent6>
      <a:hlink>
        <a:srgbClr val="2185C5"/>
      </a:hlink>
      <a:folHlink>
        <a:srgbClr val="6611CC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4EA693"/>
        </a:accent1>
        <a:accent2>
          <a:srgbClr val="ABA755"/>
        </a:accent2>
        <a:accent3>
          <a:srgbClr val="FFFFFF"/>
        </a:accent3>
        <a:accent4>
          <a:srgbClr val="174578"/>
        </a:accent4>
        <a:accent5>
          <a:srgbClr val="B2D0C8"/>
        </a:accent5>
        <a:accent6>
          <a:srgbClr val="9B974C"/>
        </a:accent6>
        <a:hlink>
          <a:srgbClr val="3981B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24B98"/>
        </a:dk1>
        <a:lt1>
          <a:srgbClr val="FFFFFF"/>
        </a:lt1>
        <a:dk2>
          <a:srgbClr val="000000"/>
        </a:dk2>
        <a:lt2>
          <a:srgbClr val="DDDDDD"/>
        </a:lt2>
        <a:accent1>
          <a:srgbClr val="4976D1"/>
        </a:accent1>
        <a:accent2>
          <a:srgbClr val="4CB494"/>
        </a:accent2>
        <a:accent3>
          <a:srgbClr val="FFFFFF"/>
        </a:accent3>
        <a:accent4>
          <a:srgbClr val="0E3F81"/>
        </a:accent4>
        <a:accent5>
          <a:srgbClr val="B1BDE5"/>
        </a:accent5>
        <a:accent6>
          <a:srgbClr val="44A386"/>
        </a:accent6>
        <a:hlink>
          <a:srgbClr val="0099CC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5B1B1"/>
        </a:accent1>
        <a:accent2>
          <a:srgbClr val="5BACE9"/>
        </a:accent2>
        <a:accent3>
          <a:srgbClr val="FFFFFF"/>
        </a:accent3>
        <a:accent4>
          <a:srgbClr val="174578"/>
        </a:accent4>
        <a:accent5>
          <a:srgbClr val="ACD5D5"/>
        </a:accent5>
        <a:accent6>
          <a:srgbClr val="529BD3"/>
        </a:accent6>
        <a:hlink>
          <a:srgbClr val="6E71F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cdb2004138l</Template>
  <TotalTime>0</TotalTime>
  <Words>1783</Words>
  <Application>Microsoft Office PowerPoint</Application>
  <PresentationFormat>‫הצגה על המסך (4:3)</PresentationFormat>
  <Paragraphs>420</Paragraphs>
  <Slides>34</Slides>
  <Notes>33</Notes>
  <HiddenSlides>1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34</vt:i4>
      </vt:variant>
    </vt:vector>
  </HeadingPairs>
  <TitlesOfParts>
    <vt:vector size="40" baseType="lpstr">
      <vt:lpstr>Arial</vt:lpstr>
      <vt:lpstr>Assistant</vt:lpstr>
      <vt:lpstr>Calibri</vt:lpstr>
      <vt:lpstr>Verdana</vt:lpstr>
      <vt:lpstr>Wingdings</vt:lpstr>
      <vt:lpstr>cdb2004138l</vt:lpstr>
      <vt:lpstr>מצגת של PowerPoint‏</vt:lpstr>
      <vt:lpstr>Contents</vt:lpstr>
      <vt:lpstr>מידע על תיקיה</vt:lpstr>
      <vt:lpstr>מידע על תיקיה</vt:lpstr>
      <vt:lpstr>דוגמא לסריקת תיקיה</vt:lpstr>
      <vt:lpstr>דוגמא לסריקת תיקיה</vt:lpstr>
      <vt:lpstr>דוגמא לסריקת תיקיה - המשך</vt:lpstr>
      <vt:lpstr>דוגמא למימוש ls</vt:lpstr>
      <vt:lpstr>דוגמא למימוש  - lsהמשך</vt:lpstr>
      <vt:lpstr>Read syscall</vt:lpstr>
      <vt:lpstr>Write syscall</vt:lpstr>
      <vt:lpstr>Close syscall</vt:lpstr>
      <vt:lpstr>T5_2.c</vt:lpstr>
      <vt:lpstr>dupמשפחת </vt:lpstr>
      <vt:lpstr>dup flow</vt:lpstr>
      <vt:lpstr>dup2 flow</vt:lpstr>
      <vt:lpstr>I/O Redirection</vt:lpstr>
      <vt:lpstr>T5_3.c</vt:lpstr>
      <vt:lpstr>דוגמא נוספת</vt:lpstr>
      <vt:lpstr>Random access</vt:lpstr>
      <vt:lpstr>Random access syscall</vt:lpstr>
      <vt:lpstr>man</vt:lpstr>
      <vt:lpstr>לינוקס</vt:lpstr>
      <vt:lpstr>chmod</vt:lpstr>
      <vt:lpstr>chdir</vt:lpstr>
      <vt:lpstr>errno</vt:lpstr>
      <vt:lpstr>המשך - errno</vt:lpstr>
      <vt:lpstr>דוגמא errno</vt:lpstr>
      <vt:lpstr>perror</vt:lpstr>
      <vt:lpstr>דוגמא perror</vt:lpstr>
      <vt:lpstr>Reading and writing</vt:lpstr>
      <vt:lpstr>User buffering</vt:lpstr>
      <vt:lpstr>fread &amp; fwrite c functions</vt:lpstr>
      <vt:lpstr>חיוב כתיבה פיזית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2021-04-18T06:44:49Z</dcterms:created>
  <dcterms:modified xsi:type="dcterms:W3CDTF">2021-04-18T06:46:26Z</dcterms:modified>
</cp:coreProperties>
</file>